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presentation prepared from the user-provided hardware list, team details, and 18 supplied CAD illustrations. The user states a nominal 10 L bucket. CAD illustrations are conceptual and their physical scale is not verified; do not infer manufacturing dimensions from them. No measured results or firmware were supplied.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and PRNs follow the user message, with capitalization corrected. Sairaj Hon is interpreted from the supplied text "sairaj honprn". Abhinav Bothe's PRN was not supplied and has not been invented.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Background reference: US EPA, Composting At Home, https://www.epa.gov/recycle/composting-home . These are project goals, not measured improvements in compost quality or processing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choices are supplied by the user. The operating scheme is an explanatory concept because firmware and wiring were not provided. CAD drawings are illustrative, not a dimensionally verified 10 L design. The LCD is visible in CAD but is not confirmed in the user's used-hardware 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component types above come from the user. Quantities, costs, regulator type/output, exact motor variant, sensor-module type and material specifications were not provided. Jumper wires must not be assumed suitable for motor load current.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Uno R3 logic is 5 V. Confirm a safe regulated supply arrangement and board-specific power entry before wiring. The motor and logic supplies on an L298N module have different roles; module jumpers and regulator settings are not specified here. Check the exact module documentation. The diagram does not establish that the adapter, L298N and motor are compatible. Sources: https://docs.arduino.cc/hardware/uno-rev3/ and https://www.st.com/resource/en/datasheet/l298.pdf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functional description, not a claim that firmware or lid interlocking has been implemented. Operating intervals and safe speed/torque must be established in testing. Temperature and soil-moisture readings do not automatically determine compost maturity.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02 and 05. These illustrate geometry only. The display is shown in CAD; it is not confirmed in the supplied hardware list. The lower cover is interpreted as access to the drive area, not as a verified compost outlet.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03 and 04. Do not assign specific wiring, airflow or drain performance to the visible side features without the detailed design. No dimensions, clearances or manufacturing tolerances have been checked for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06 and 07. This layout is conceptual. A partition by itself does not establish waterproof separation; the shaft pass-through requires appropriate bearing support and sealing. Usable compost volume must be measured.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 10. The 10 L value comes from the user rather than the CAD scale. Usable volume is reduced by the partition, mechanism and operating freeboard. Container material, wall thickness, partition attachment, leachate management and seal construction were not provided and are not validated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 11. No lid seal, lock, interlock or safety rating is claimed. Air exchange requirements must be considered separately from the removable closure.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12 and 09. The geometry includes space above the motor that may represent a reducer envelope; an actual gearbox or its ratio was not specified by the user and must not be described as installed. "775" does not uniquely identify motor voltage, current, speed or torque. Validate the exact motor variant and transmission.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13 and 08. Mixing is intended to redistribute material and assist aeration but does not replace an airflow path. No stress analysis, torque calculation, interference check or proof of sealing has been supplied. Material and operating speed remain unspecified.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 14. The simplified sensor shapes do not confirm the exact DHT11 package or soil-moisture module. DHT11 is not a waterproof immersion probe and its humidity output is not a measurement of moisture content inside solid compost. Source: https://learn.adafruit.com/dht/overview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15 and 18. A closed housing is not proof of an IP protection rating. Provide insulation, mounting stand-offs, cable strain relief, splash protection and suitable heat management when building. No final enclosure material was specified.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User-supplied CAD images 16 and 17. Arduino Uno is confirmed by the user. The display is visible in the supplied illustrations but its type, connection and physical installation were not stated. Do not treat the simplified colored blocks as a verified L298N module, regulator, schematic or pin assignment.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DHT11 specifications are typical values from the Adafruit DHT sensor guide; check the exact device datasheet for a particular sensor. Active compost can exceed the sensor temperature range and may be condensing. Local air temperature is not necessarily bulk compost temperature. Soil sensor type is unspecified; if resistive, corrosion and drift may be concerns. Sources: https://learn.adafruit.com/dht/overview and https://www.epa.gov/recycle/composting-home .</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 L298 datasheet gives device limits and saturation-voltage/thermal behavior. The module may have different practical limits depending on heat sinking, board design and current path. The supply rating is given by the user, not an actual measured available motor current under starting load. Never infer suitability from matching voltage alone. Motor load tests need a guarded, current-limited arrangement and appropriately rated instrumentation; do not deliberately stall an unprotected motor. Source: https://www.st.com/resource/en/datasheet/l298.pdf .</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test plan, not a result sheet. No data on composting duration, fertilizer quality, waste reduction, temperature history, electrical power or efficiency was supplied. Safety and compatibility checks should precede loaded operation. Water-entry checks must be carried out without exposing energized electronics to liquid.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Benefits are framed as expected outcomes. There is no evidence yet for faster composting, odor elimination, validated fertilizer quality, energy savings or maintenance-free operation. The nominal bucket size does not establish commercial processing capacity.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items on this slide are future development proposals. No current implementation of wireless connectivity, water pump, interlock, current sensing or over-temperature control is claimed. The right sensor and drive components depend on measured operating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18 original supplied CAD images are embedded in the editable presentation. Images are illustrations, not verified 10 L manufacturing drawings. No dimensions from the existing CAD file name were adopted. The user specified a 10 L bucket. A display is depicted but was not included in the stated hardware list. Abhinav Bothe's PRN remains unprovided. No college, guide name, budget or results were invented.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by distinguishing the project concept and stated hardware from measured validation. No manufacturing readiness, electrical compatibility or compost quality certification is implied. The project team can add real test results after safe trials.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arduino.cc/hardware/uno-rev3/" TargetMode="External"/><Relationship Id="rId3" Type="http://schemas.openxmlformats.org/officeDocument/2006/relationships/hyperlink" Target="https://www.st.com/resource/en/datasheet/l298.pdf" TargetMode="External"/><Relationship Id="rId4" Type="http://schemas.openxmlformats.org/officeDocument/2006/relationships/hyperlink" Target="https://learn.adafruit.com/dht/overview" TargetMode="External"/><Relationship Id="rId5" Type="http://schemas.openxmlformats.org/officeDocument/2006/relationships/hyperlink" Target="https://www.epa.gov/recycle/composting-home" TargetMode="Externa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D32"/>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8E5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C8E58C"/>
                </a:solidFill>
                <a:latin typeface="Aptos"/>
              </a:defRPr>
            </a:pPr>
            <a:r>
              <a:t>ENGINEERING PROJECT</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FFFFFF"/>
                </a:solidFill>
                <a:latin typeface="Aptos"/>
              </a:defRPr>
            </a:pPr>
            <a:r>
              <a:t>Smart Composting System</a:t>
            </a:r>
          </a:p>
        </p:txBody>
      </p:sp>
      <p:sp>
        <p:nvSpPr>
          <p:cNvPr id="5" name="Rectangle 4"/>
          <p:cNvSpPr/>
          <p:nvPr/>
        </p:nvSpPr>
        <p:spPr>
          <a:xfrm>
            <a:off x="502920" y="6428232"/>
            <a:ext cx="11155680" cy="10972"/>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D8E0D4"/>
                </a:solidFill>
                <a:latin typeface="Aptos"/>
              </a:defRPr>
            </a:pPr>
            <a:r>
              <a:t>SMART COMPOSTING SYSTEM  /  PROJECT PRESENTATION</a:t>
            </a:r>
          </a:p>
        </p:txBody>
      </p:sp>
      <p:sp>
        <p:nvSpPr>
          <p:cNvPr id="7" name="TextBox 6"/>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C8E58C"/>
                </a:solidFill>
                <a:latin typeface="Aptos"/>
              </a:defRPr>
            </a:pPr>
            <a:r>
              <a:t>01</a:t>
            </a:r>
          </a:p>
        </p:txBody>
      </p:sp>
      <p:sp>
        <p:nvSpPr>
          <p:cNvPr id="8" name="Rectangle 7"/>
          <p:cNvSpPr/>
          <p:nvPr/>
        </p:nvSpPr>
        <p:spPr>
          <a:xfrm>
            <a:off x="502920" y="685800"/>
            <a:ext cx="11155680" cy="731520"/>
          </a:xfrm>
          <a:prstGeom prst="rect">
            <a:avLst/>
          </a:prstGeom>
          <a:solidFill>
            <a:srgbClr val="123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234440"/>
            <a:ext cx="5897880" cy="2468880"/>
          </a:xfrm>
          <a:prstGeom prst="rect">
            <a:avLst/>
          </a:prstGeom>
          <a:noFill/>
          <a:effectLst/>
        </p:spPr>
        <p:txBody>
          <a:bodyPr wrap="square" lIns="0" rIns="0" tIns="0" bIns="0" anchor="t">
            <a:spAutoFit/>
          </a:bodyPr>
          <a:lstStyle/>
          <a:p>
            <a:pPr algn="l">
              <a:lnSpc>
                <a:spcPct val="106000"/>
              </a:lnSpc>
              <a:spcAft>
                <a:spcPts val="600"/>
              </a:spcAft>
              <a:defRPr sz="4800" b="1">
                <a:solidFill>
                  <a:srgbClr val="FFFFFF"/>
                </a:solidFill>
                <a:latin typeface="Aptos"/>
              </a:defRPr>
            </a:pPr>
            <a:r>
              <a:t>SMART</a:t>
            </a:r>
          </a:p>
          <a:p>
            <a:pPr algn="l">
              <a:lnSpc>
                <a:spcPct val="106000"/>
              </a:lnSpc>
              <a:spcAft>
                <a:spcPts val="600"/>
              </a:spcAft>
              <a:defRPr sz="4800" b="1">
                <a:solidFill>
                  <a:srgbClr val="FFFFFF"/>
                </a:solidFill>
                <a:latin typeface="Aptos"/>
              </a:defRPr>
            </a:pPr>
            <a:r>
              <a:t>COMPOSTING</a:t>
            </a:r>
          </a:p>
          <a:p>
            <a:pPr algn="l">
              <a:lnSpc>
                <a:spcPct val="106000"/>
              </a:lnSpc>
              <a:spcAft>
                <a:spcPts val="600"/>
              </a:spcAft>
              <a:defRPr sz="4800" b="1">
                <a:solidFill>
                  <a:srgbClr val="FFFFFF"/>
                </a:solidFill>
                <a:latin typeface="Aptos"/>
              </a:defRPr>
            </a:pPr>
            <a:r>
              <a:t>SYSTEM</a:t>
            </a:r>
          </a:p>
        </p:txBody>
      </p:sp>
      <p:sp>
        <p:nvSpPr>
          <p:cNvPr id="10" name="TextBox 9"/>
          <p:cNvSpPr txBox="1"/>
          <p:nvPr/>
        </p:nvSpPr>
        <p:spPr>
          <a:xfrm>
            <a:off x="612648" y="3886200"/>
            <a:ext cx="5257800" cy="914400"/>
          </a:xfrm>
          <a:prstGeom prst="rect">
            <a:avLst/>
          </a:prstGeom>
          <a:noFill/>
          <a:effectLst/>
        </p:spPr>
        <p:txBody>
          <a:bodyPr wrap="square" lIns="0" rIns="0" tIns="0" bIns="0" anchor="t">
            <a:spAutoFit/>
          </a:bodyPr>
          <a:lstStyle/>
          <a:p>
            <a:pPr algn="l">
              <a:lnSpc>
                <a:spcPct val="106000"/>
              </a:lnSpc>
              <a:spcAft>
                <a:spcPts val="600"/>
              </a:spcAft>
              <a:defRPr sz="2400" b="0">
                <a:solidFill>
                  <a:srgbClr val="D8E0D4"/>
                </a:solidFill>
                <a:latin typeface="Aptos"/>
              </a:defRPr>
            </a:pPr>
            <a:r>
              <a:t>Arduino-based monitoring</a:t>
            </a:r>
          </a:p>
          <a:p>
            <a:pPr algn="l">
              <a:lnSpc>
                <a:spcPct val="106000"/>
              </a:lnSpc>
              <a:spcAft>
                <a:spcPts val="600"/>
              </a:spcAft>
              <a:defRPr sz="2400" b="0">
                <a:solidFill>
                  <a:srgbClr val="D8E0D4"/>
                </a:solidFill>
                <a:latin typeface="Aptos"/>
              </a:defRPr>
            </a:pPr>
            <a:r>
              <a:t>and motor-assisted mixing</a:t>
            </a:r>
          </a:p>
        </p:txBody>
      </p:sp>
      <p:sp>
        <p:nvSpPr>
          <p:cNvPr id="11" name="Rounded Rectangle 10"/>
          <p:cNvSpPr/>
          <p:nvPr/>
        </p:nvSpPr>
        <p:spPr>
          <a:xfrm>
            <a:off x="621792" y="5230368"/>
            <a:ext cx="4544568" cy="576072"/>
          </a:xfrm>
          <a:prstGeom prst="roundRect">
            <a:avLst>
              <a:gd name="adj" fmla="val 8000"/>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 y="5404104"/>
            <a:ext cx="4187952" cy="228600"/>
          </a:xfrm>
          <a:prstGeom prst="rect">
            <a:avLst/>
          </a:prstGeom>
          <a:noFill/>
          <a:effectLst/>
        </p:spPr>
        <p:txBody>
          <a:bodyPr wrap="square" lIns="0" rIns="0" tIns="0" bIns="0" anchor="t">
            <a:spAutoFit/>
          </a:bodyPr>
          <a:lstStyle/>
          <a:p>
            <a:pPr algn="l">
              <a:lnSpc>
                <a:spcPct val="106000"/>
              </a:lnSpc>
              <a:spcAft>
                <a:spcPts val="600"/>
              </a:spcAft>
              <a:defRPr sz="1400" b="1">
                <a:solidFill>
                  <a:srgbClr val="FFFFFF"/>
                </a:solidFill>
                <a:latin typeface="Aptos"/>
              </a:defRPr>
            </a:pPr>
            <a:r>
              <a:t>10 L BUCKET  •  SENSORS  •  DC MIXER</a:t>
            </a:r>
          </a:p>
        </p:txBody>
      </p:sp>
      <p:pic>
        <p:nvPicPr>
          <p:cNvPr id="13" name="User CAD image 01" descr="01_complete_isometric.png"/>
          <p:cNvPicPr>
            <a:picLocks noChangeAspect="1"/>
          </p:cNvPicPr>
          <p:nvPr/>
        </p:nvPicPr>
        <p:blipFill>
          <a:blip r:embed="rId2"/>
          <a:srcRect l="37643" t="12455" r="14929" b="15091"/>
          <a:stretch>
            <a:fillRect/>
          </a:stretch>
        </p:blipFill>
        <p:spPr>
          <a:xfrm>
            <a:off x="6778549" y="749808"/>
            <a:ext cx="4456581" cy="5349240"/>
          </a:xfrm>
          <a:prstGeom prst="rect">
            <a:avLst/>
          </a:prstGeom>
          <a:effectLst/>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01 / TEAM</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Meet the project team</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Four members working on an Arduino-based smart composting project.</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02</a:t>
            </a:r>
          </a:p>
        </p:txBody>
      </p:sp>
      <p:sp>
        <p:nvSpPr>
          <p:cNvPr id="9" name="Rounded Rectangle 8"/>
          <p:cNvSpPr/>
          <p:nvPr/>
        </p:nvSpPr>
        <p:spPr>
          <a:xfrm>
            <a:off x="548640" y="2039112"/>
            <a:ext cx="5458968" cy="169164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68096" y="2267712"/>
            <a:ext cx="640080" cy="457200"/>
          </a:xfrm>
          <a:prstGeom prst="rect">
            <a:avLst/>
          </a:prstGeom>
          <a:noFill/>
          <a:effectLst/>
        </p:spPr>
        <p:txBody>
          <a:bodyPr wrap="square" lIns="0" rIns="0" tIns="0" bIns="0" anchor="t">
            <a:spAutoFit/>
          </a:bodyPr>
          <a:lstStyle/>
          <a:p>
            <a:pPr algn="l">
              <a:lnSpc>
                <a:spcPct val="106000"/>
              </a:lnSpc>
              <a:spcAft>
                <a:spcPts val="600"/>
              </a:spcAft>
              <a:defRPr sz="2500" b="1">
                <a:solidFill>
                  <a:srgbClr val="247A52"/>
                </a:solidFill>
                <a:latin typeface="Aptos"/>
              </a:defRPr>
            </a:pPr>
            <a:r>
              <a:t>01</a:t>
            </a:r>
          </a:p>
        </p:txBody>
      </p:sp>
      <p:sp>
        <p:nvSpPr>
          <p:cNvPr id="11" name="TextBox 10"/>
          <p:cNvSpPr txBox="1"/>
          <p:nvPr/>
        </p:nvSpPr>
        <p:spPr>
          <a:xfrm>
            <a:off x="1463040" y="2286000"/>
            <a:ext cx="4279392" cy="566928"/>
          </a:xfrm>
          <a:prstGeom prst="rect">
            <a:avLst/>
          </a:prstGeom>
          <a:noFill/>
          <a:effectLst/>
        </p:spPr>
        <p:txBody>
          <a:bodyPr wrap="square" lIns="0" rIns="0" tIns="0" bIns="0" anchor="t">
            <a:spAutoFit/>
          </a:bodyPr>
          <a:lstStyle/>
          <a:p>
            <a:pPr algn="l">
              <a:lnSpc>
                <a:spcPct val="106000"/>
              </a:lnSpc>
              <a:spcAft>
                <a:spcPts val="600"/>
              </a:spcAft>
              <a:defRPr sz="2400" b="1">
                <a:solidFill>
                  <a:srgbClr val="123D32"/>
                </a:solidFill>
                <a:latin typeface="Aptos"/>
              </a:defRPr>
            </a:pPr>
            <a:r>
              <a:t>Mayur Santosh Darekar</a:t>
            </a:r>
          </a:p>
        </p:txBody>
      </p:sp>
      <p:sp>
        <p:nvSpPr>
          <p:cNvPr id="12" name="TextBox 11"/>
          <p:cNvSpPr txBox="1"/>
          <p:nvPr/>
        </p:nvSpPr>
        <p:spPr>
          <a:xfrm>
            <a:off x="1463040" y="2971800"/>
            <a:ext cx="4279392" cy="411480"/>
          </a:xfrm>
          <a:prstGeom prst="rect">
            <a:avLst/>
          </a:prstGeom>
          <a:noFill/>
          <a:effectLst/>
        </p:spPr>
        <p:txBody>
          <a:bodyPr wrap="square" lIns="0" rIns="0" tIns="0" bIns="0" anchor="t">
            <a:spAutoFit/>
          </a:bodyPr>
          <a:lstStyle/>
          <a:p>
            <a:pPr algn="l">
              <a:lnSpc>
                <a:spcPct val="106000"/>
              </a:lnSpc>
              <a:spcAft>
                <a:spcPts val="600"/>
              </a:spcAft>
              <a:defRPr sz="1800" b="0">
                <a:solidFill>
                  <a:srgbClr val="64746A"/>
                </a:solidFill>
                <a:latin typeface="Aptos"/>
              </a:defRPr>
            </a:pPr>
            <a:r>
              <a:t>PRN  2126UMEM1024</a:t>
            </a:r>
          </a:p>
        </p:txBody>
      </p:sp>
      <p:sp>
        <p:nvSpPr>
          <p:cNvPr id="13" name="Rounded Rectangle 12"/>
          <p:cNvSpPr/>
          <p:nvPr/>
        </p:nvSpPr>
        <p:spPr>
          <a:xfrm>
            <a:off x="6190488" y="2039112"/>
            <a:ext cx="5458968" cy="169164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409944" y="2267712"/>
            <a:ext cx="640080" cy="457200"/>
          </a:xfrm>
          <a:prstGeom prst="rect">
            <a:avLst/>
          </a:prstGeom>
          <a:noFill/>
          <a:effectLst/>
        </p:spPr>
        <p:txBody>
          <a:bodyPr wrap="square" lIns="0" rIns="0" tIns="0" bIns="0" anchor="t">
            <a:spAutoFit/>
          </a:bodyPr>
          <a:lstStyle/>
          <a:p>
            <a:pPr algn="l">
              <a:lnSpc>
                <a:spcPct val="106000"/>
              </a:lnSpc>
              <a:spcAft>
                <a:spcPts val="600"/>
              </a:spcAft>
              <a:defRPr sz="2500" b="1">
                <a:solidFill>
                  <a:srgbClr val="247A52"/>
                </a:solidFill>
                <a:latin typeface="Aptos"/>
              </a:defRPr>
            </a:pPr>
            <a:r>
              <a:t>02</a:t>
            </a:r>
          </a:p>
        </p:txBody>
      </p:sp>
      <p:sp>
        <p:nvSpPr>
          <p:cNvPr id="15" name="TextBox 14"/>
          <p:cNvSpPr txBox="1"/>
          <p:nvPr/>
        </p:nvSpPr>
        <p:spPr>
          <a:xfrm>
            <a:off x="7104888" y="2286000"/>
            <a:ext cx="4279392" cy="566928"/>
          </a:xfrm>
          <a:prstGeom prst="rect">
            <a:avLst/>
          </a:prstGeom>
          <a:noFill/>
          <a:effectLst/>
        </p:spPr>
        <p:txBody>
          <a:bodyPr wrap="square" lIns="0" rIns="0" tIns="0" bIns="0" anchor="t">
            <a:spAutoFit/>
          </a:bodyPr>
          <a:lstStyle/>
          <a:p>
            <a:pPr algn="l">
              <a:lnSpc>
                <a:spcPct val="106000"/>
              </a:lnSpc>
              <a:spcAft>
                <a:spcPts val="600"/>
              </a:spcAft>
              <a:defRPr sz="2400" b="1">
                <a:solidFill>
                  <a:srgbClr val="123D32"/>
                </a:solidFill>
                <a:latin typeface="Aptos"/>
              </a:defRPr>
            </a:pPr>
            <a:r>
              <a:t>Sairaj Hon</a:t>
            </a:r>
          </a:p>
        </p:txBody>
      </p:sp>
      <p:sp>
        <p:nvSpPr>
          <p:cNvPr id="16" name="TextBox 15"/>
          <p:cNvSpPr txBox="1"/>
          <p:nvPr/>
        </p:nvSpPr>
        <p:spPr>
          <a:xfrm>
            <a:off x="7104888" y="2971800"/>
            <a:ext cx="4279392" cy="411480"/>
          </a:xfrm>
          <a:prstGeom prst="rect">
            <a:avLst/>
          </a:prstGeom>
          <a:noFill/>
          <a:effectLst/>
        </p:spPr>
        <p:txBody>
          <a:bodyPr wrap="square" lIns="0" rIns="0" tIns="0" bIns="0" anchor="t">
            <a:spAutoFit/>
          </a:bodyPr>
          <a:lstStyle/>
          <a:p>
            <a:pPr algn="l">
              <a:lnSpc>
                <a:spcPct val="106000"/>
              </a:lnSpc>
              <a:spcAft>
                <a:spcPts val="600"/>
              </a:spcAft>
              <a:defRPr sz="1800" b="0">
                <a:solidFill>
                  <a:srgbClr val="64746A"/>
                </a:solidFill>
                <a:latin typeface="Aptos"/>
              </a:defRPr>
            </a:pPr>
            <a:r>
              <a:t>PRN  2126UMEM1012</a:t>
            </a:r>
          </a:p>
        </p:txBody>
      </p:sp>
      <p:sp>
        <p:nvSpPr>
          <p:cNvPr id="17" name="Rounded Rectangle 16"/>
          <p:cNvSpPr/>
          <p:nvPr/>
        </p:nvSpPr>
        <p:spPr>
          <a:xfrm>
            <a:off x="548640" y="3977639"/>
            <a:ext cx="5458968" cy="169164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8096" y="4206240"/>
            <a:ext cx="640080" cy="457200"/>
          </a:xfrm>
          <a:prstGeom prst="rect">
            <a:avLst/>
          </a:prstGeom>
          <a:noFill/>
          <a:effectLst/>
        </p:spPr>
        <p:txBody>
          <a:bodyPr wrap="square" lIns="0" rIns="0" tIns="0" bIns="0" anchor="t">
            <a:spAutoFit/>
          </a:bodyPr>
          <a:lstStyle/>
          <a:p>
            <a:pPr algn="l">
              <a:lnSpc>
                <a:spcPct val="106000"/>
              </a:lnSpc>
              <a:spcAft>
                <a:spcPts val="600"/>
              </a:spcAft>
              <a:defRPr sz="2500" b="1">
                <a:solidFill>
                  <a:srgbClr val="247A52"/>
                </a:solidFill>
                <a:latin typeface="Aptos"/>
              </a:defRPr>
            </a:pPr>
            <a:r>
              <a:t>03</a:t>
            </a:r>
          </a:p>
        </p:txBody>
      </p:sp>
      <p:sp>
        <p:nvSpPr>
          <p:cNvPr id="19" name="TextBox 18"/>
          <p:cNvSpPr txBox="1"/>
          <p:nvPr/>
        </p:nvSpPr>
        <p:spPr>
          <a:xfrm>
            <a:off x="1463040" y="4224527"/>
            <a:ext cx="4279392" cy="566928"/>
          </a:xfrm>
          <a:prstGeom prst="rect">
            <a:avLst/>
          </a:prstGeom>
          <a:noFill/>
          <a:effectLst/>
        </p:spPr>
        <p:txBody>
          <a:bodyPr wrap="square" lIns="0" rIns="0" tIns="0" bIns="0" anchor="t">
            <a:spAutoFit/>
          </a:bodyPr>
          <a:lstStyle/>
          <a:p>
            <a:pPr algn="l">
              <a:lnSpc>
                <a:spcPct val="106000"/>
              </a:lnSpc>
              <a:spcAft>
                <a:spcPts val="600"/>
              </a:spcAft>
              <a:defRPr sz="2400" b="1">
                <a:solidFill>
                  <a:srgbClr val="123D32"/>
                </a:solidFill>
                <a:latin typeface="Aptos"/>
              </a:defRPr>
            </a:pPr>
            <a:r>
              <a:t>Abhinav Bothe</a:t>
            </a:r>
          </a:p>
        </p:txBody>
      </p:sp>
      <p:sp>
        <p:nvSpPr>
          <p:cNvPr id="20" name="TextBox 19"/>
          <p:cNvSpPr txBox="1"/>
          <p:nvPr/>
        </p:nvSpPr>
        <p:spPr>
          <a:xfrm>
            <a:off x="1463040" y="4910327"/>
            <a:ext cx="4279392" cy="411480"/>
          </a:xfrm>
          <a:prstGeom prst="rect">
            <a:avLst/>
          </a:prstGeom>
          <a:noFill/>
          <a:effectLst/>
        </p:spPr>
        <p:txBody>
          <a:bodyPr wrap="square" lIns="0" rIns="0" tIns="0" bIns="0" anchor="t">
            <a:spAutoFit/>
          </a:bodyPr>
          <a:lstStyle/>
          <a:p>
            <a:pPr algn="l">
              <a:lnSpc>
                <a:spcPct val="106000"/>
              </a:lnSpc>
              <a:spcAft>
                <a:spcPts val="600"/>
              </a:spcAft>
              <a:defRPr sz="1800" b="0">
                <a:solidFill>
                  <a:srgbClr val="64746A"/>
                </a:solidFill>
                <a:latin typeface="Aptos"/>
              </a:defRPr>
            </a:pPr>
            <a:r>
              <a:t>PRN  Not provided</a:t>
            </a:r>
          </a:p>
        </p:txBody>
      </p:sp>
      <p:sp>
        <p:nvSpPr>
          <p:cNvPr id="21" name="Rounded Rectangle 20"/>
          <p:cNvSpPr/>
          <p:nvPr/>
        </p:nvSpPr>
        <p:spPr>
          <a:xfrm>
            <a:off x="6190488" y="3977639"/>
            <a:ext cx="5458968" cy="169164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409944" y="4206240"/>
            <a:ext cx="640080" cy="457200"/>
          </a:xfrm>
          <a:prstGeom prst="rect">
            <a:avLst/>
          </a:prstGeom>
          <a:noFill/>
          <a:effectLst/>
        </p:spPr>
        <p:txBody>
          <a:bodyPr wrap="square" lIns="0" rIns="0" tIns="0" bIns="0" anchor="t">
            <a:spAutoFit/>
          </a:bodyPr>
          <a:lstStyle/>
          <a:p>
            <a:pPr algn="l">
              <a:lnSpc>
                <a:spcPct val="106000"/>
              </a:lnSpc>
              <a:spcAft>
                <a:spcPts val="600"/>
              </a:spcAft>
              <a:defRPr sz="2500" b="1">
                <a:solidFill>
                  <a:srgbClr val="247A52"/>
                </a:solidFill>
                <a:latin typeface="Aptos"/>
              </a:defRPr>
            </a:pPr>
            <a:r>
              <a:t>04</a:t>
            </a:r>
          </a:p>
        </p:txBody>
      </p:sp>
      <p:sp>
        <p:nvSpPr>
          <p:cNvPr id="23" name="TextBox 22"/>
          <p:cNvSpPr txBox="1"/>
          <p:nvPr/>
        </p:nvSpPr>
        <p:spPr>
          <a:xfrm>
            <a:off x="7104888" y="4224527"/>
            <a:ext cx="4279392" cy="566928"/>
          </a:xfrm>
          <a:prstGeom prst="rect">
            <a:avLst/>
          </a:prstGeom>
          <a:noFill/>
          <a:effectLst/>
        </p:spPr>
        <p:txBody>
          <a:bodyPr wrap="square" lIns="0" rIns="0" tIns="0" bIns="0" anchor="t">
            <a:spAutoFit/>
          </a:bodyPr>
          <a:lstStyle/>
          <a:p>
            <a:pPr algn="l">
              <a:lnSpc>
                <a:spcPct val="106000"/>
              </a:lnSpc>
              <a:spcAft>
                <a:spcPts val="600"/>
              </a:spcAft>
              <a:defRPr sz="2400" b="1">
                <a:solidFill>
                  <a:srgbClr val="123D32"/>
                </a:solidFill>
                <a:latin typeface="Aptos"/>
              </a:defRPr>
            </a:pPr>
            <a:r>
              <a:t>Pratik Bankar</a:t>
            </a:r>
          </a:p>
        </p:txBody>
      </p:sp>
      <p:sp>
        <p:nvSpPr>
          <p:cNvPr id="24" name="TextBox 23"/>
          <p:cNvSpPr txBox="1"/>
          <p:nvPr/>
        </p:nvSpPr>
        <p:spPr>
          <a:xfrm>
            <a:off x="7104888" y="4910327"/>
            <a:ext cx="4279392" cy="411480"/>
          </a:xfrm>
          <a:prstGeom prst="rect">
            <a:avLst/>
          </a:prstGeom>
          <a:noFill/>
          <a:effectLst/>
        </p:spPr>
        <p:txBody>
          <a:bodyPr wrap="square" lIns="0" rIns="0" tIns="0" bIns="0" anchor="t">
            <a:spAutoFit/>
          </a:bodyPr>
          <a:lstStyle/>
          <a:p>
            <a:pPr algn="l">
              <a:lnSpc>
                <a:spcPct val="106000"/>
              </a:lnSpc>
              <a:spcAft>
                <a:spcPts val="600"/>
              </a:spcAft>
              <a:defRPr sz="1800" b="0">
                <a:solidFill>
                  <a:srgbClr val="64746A"/>
                </a:solidFill>
                <a:latin typeface="Aptos"/>
              </a:defRPr>
            </a:pPr>
            <a:r>
              <a:t>PRN  2126UMEM1022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02 / PROBLEM &amp; OBJECTIVES</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Why smart composting?</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Help users monitor a small organic-waste batch and reduce manual mixing effort.</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03</a:t>
            </a:r>
          </a:p>
        </p:txBody>
      </p:sp>
      <p:sp>
        <p:nvSpPr>
          <p:cNvPr id="9" name="Rounded Rectangle 8"/>
          <p:cNvSpPr/>
          <p:nvPr/>
        </p:nvSpPr>
        <p:spPr>
          <a:xfrm>
            <a:off x="548640" y="2066543"/>
            <a:ext cx="3566160" cy="324612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58952" y="2276856"/>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01</a:t>
            </a:r>
          </a:p>
        </p:txBody>
      </p:sp>
      <p:sp>
        <p:nvSpPr>
          <p:cNvPr id="11" name="TextBox 10"/>
          <p:cNvSpPr txBox="1"/>
          <p:nvPr/>
        </p:nvSpPr>
        <p:spPr>
          <a:xfrm>
            <a:off x="758952" y="2752344"/>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The problem</a:t>
            </a:r>
          </a:p>
        </p:txBody>
      </p:sp>
      <p:sp>
        <p:nvSpPr>
          <p:cNvPr id="12" name="TextBox 11"/>
          <p:cNvSpPr txBox="1"/>
          <p:nvPr/>
        </p:nvSpPr>
        <p:spPr>
          <a:xfrm>
            <a:off x="758952" y="3483863"/>
            <a:ext cx="3145536" cy="1645919"/>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Unmonitored moisture and limited airflow can make a small compost batch difficult to manage.</a:t>
            </a:r>
          </a:p>
        </p:txBody>
      </p:sp>
      <p:sp>
        <p:nvSpPr>
          <p:cNvPr id="13" name="Rounded Rectangle 12"/>
          <p:cNvSpPr/>
          <p:nvPr/>
        </p:nvSpPr>
        <p:spPr>
          <a:xfrm>
            <a:off x="4315968" y="2066543"/>
            <a:ext cx="3566160" cy="324612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26280" y="2276856"/>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02</a:t>
            </a:r>
          </a:p>
        </p:txBody>
      </p:sp>
      <p:sp>
        <p:nvSpPr>
          <p:cNvPr id="15" name="TextBox 14"/>
          <p:cNvSpPr txBox="1"/>
          <p:nvPr/>
        </p:nvSpPr>
        <p:spPr>
          <a:xfrm>
            <a:off x="4526280" y="2752344"/>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The objective</a:t>
            </a:r>
          </a:p>
        </p:txBody>
      </p:sp>
      <p:sp>
        <p:nvSpPr>
          <p:cNvPr id="16" name="TextBox 15"/>
          <p:cNvSpPr txBox="1"/>
          <p:nvPr/>
        </p:nvSpPr>
        <p:spPr>
          <a:xfrm>
            <a:off x="4526280" y="3483863"/>
            <a:ext cx="3145536" cy="1645919"/>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Combine temperature and moisture sensing with Arduino-based control and powered mixing.</a:t>
            </a:r>
          </a:p>
        </p:txBody>
      </p:sp>
      <p:sp>
        <p:nvSpPr>
          <p:cNvPr id="17" name="Rounded Rectangle 16"/>
          <p:cNvSpPr/>
          <p:nvPr/>
        </p:nvSpPr>
        <p:spPr>
          <a:xfrm>
            <a:off x="8083296" y="2066543"/>
            <a:ext cx="3566160" cy="324612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93608" y="2276856"/>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03</a:t>
            </a:r>
          </a:p>
        </p:txBody>
      </p:sp>
      <p:sp>
        <p:nvSpPr>
          <p:cNvPr id="19" name="TextBox 18"/>
          <p:cNvSpPr txBox="1"/>
          <p:nvPr/>
        </p:nvSpPr>
        <p:spPr>
          <a:xfrm>
            <a:off x="8293608" y="2752344"/>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The scope</a:t>
            </a:r>
          </a:p>
        </p:txBody>
      </p:sp>
      <p:sp>
        <p:nvSpPr>
          <p:cNvPr id="20" name="TextBox 19"/>
          <p:cNvSpPr txBox="1"/>
          <p:nvPr/>
        </p:nvSpPr>
        <p:spPr>
          <a:xfrm>
            <a:off x="8293608" y="3483863"/>
            <a:ext cx="3145536" cy="1645919"/>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A compact 10 L bucket prototype for household-scale learning and demonstration.</a:t>
            </a:r>
          </a:p>
        </p:txBody>
      </p:sp>
      <p:sp>
        <p:nvSpPr>
          <p:cNvPr id="21" name="Rounded Rectangle 20"/>
          <p:cNvSpPr/>
          <p:nvPr/>
        </p:nvSpPr>
        <p:spPr>
          <a:xfrm>
            <a:off x="521207" y="5806440"/>
            <a:ext cx="11109960" cy="420624"/>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8368" y="5888736"/>
            <a:ext cx="10835640"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123D32"/>
                </a:solidFill>
                <a:latin typeface="Aptos"/>
              </a:defRPr>
            </a:pPr>
            <a:r>
              <a:t>Composting still depends on suitable feedstock, air, moisture and time—not electronics alone.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03 / SYSTEM CONCEPT</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The system at a glance</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A composting chamber, a lower drive area and an external electronics enclosure.</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04</a:t>
            </a:r>
          </a:p>
        </p:txBody>
      </p:sp>
      <p:pic>
        <p:nvPicPr>
          <p:cNvPr id="9" name="User CAD image 06" descr="06_inside_isometric_transparent_bucket.png"/>
          <p:cNvPicPr>
            <a:picLocks noChangeAspect="1"/>
          </p:cNvPicPr>
          <p:nvPr/>
        </p:nvPicPr>
        <p:blipFill>
          <a:blip r:embed="rId2"/>
          <a:srcRect l="37000" t="10182" r="14214" b="16182"/>
          <a:stretch>
            <a:fillRect/>
          </a:stretch>
        </p:blipFill>
        <p:spPr>
          <a:xfrm>
            <a:off x="1622015" y="1883664"/>
            <a:ext cx="3431088" cy="4069080"/>
          </a:xfrm>
          <a:prstGeom prst="rect">
            <a:avLst/>
          </a:prstGeom>
          <a:effectLst/>
        </p:spPr>
      </p:pic>
      <p:sp>
        <p:nvSpPr>
          <p:cNvPr id="10" name="TextBox 9"/>
          <p:cNvSpPr txBox="1"/>
          <p:nvPr/>
        </p:nvSpPr>
        <p:spPr>
          <a:xfrm>
            <a:off x="548640" y="6035040"/>
            <a:ext cx="557784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Transparent CAD view showing the proposed internal arrangement</a:t>
            </a:r>
          </a:p>
        </p:txBody>
      </p:sp>
      <p:sp>
        <p:nvSpPr>
          <p:cNvPr id="11" name="Rounded Rectangle 10"/>
          <p:cNvSpPr/>
          <p:nvPr/>
        </p:nvSpPr>
        <p:spPr>
          <a:xfrm>
            <a:off x="6437376" y="1965960"/>
            <a:ext cx="5166360" cy="121615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47688" y="2121408"/>
            <a:ext cx="4745736" cy="329184"/>
          </a:xfrm>
          <a:prstGeom prst="rect">
            <a:avLst/>
          </a:prstGeom>
          <a:noFill/>
          <a:effectLst/>
        </p:spPr>
        <p:txBody>
          <a:bodyPr wrap="square" lIns="0" rIns="0" tIns="0" bIns="0" anchor="t">
            <a:spAutoFit/>
          </a:bodyPr>
          <a:lstStyle/>
          <a:p>
            <a:pPr algn="l">
              <a:lnSpc>
                <a:spcPct val="106000"/>
              </a:lnSpc>
              <a:spcAft>
                <a:spcPts val="600"/>
              </a:spcAft>
              <a:defRPr sz="2000" b="1">
                <a:solidFill>
                  <a:srgbClr val="123D32"/>
                </a:solidFill>
                <a:latin typeface="Aptos"/>
              </a:defRPr>
            </a:pPr>
            <a:r>
              <a:t>Sense</a:t>
            </a:r>
          </a:p>
        </p:txBody>
      </p:sp>
      <p:sp>
        <p:nvSpPr>
          <p:cNvPr id="13" name="TextBox 12"/>
          <p:cNvSpPr txBox="1"/>
          <p:nvPr/>
        </p:nvSpPr>
        <p:spPr>
          <a:xfrm>
            <a:off x="6647688" y="2606040"/>
            <a:ext cx="4745736" cy="484632"/>
          </a:xfrm>
          <a:prstGeom prst="rect">
            <a:avLst/>
          </a:prstGeom>
          <a:noFill/>
          <a:effectLst/>
        </p:spPr>
        <p:txBody>
          <a:bodyPr wrap="square" lIns="0" rIns="0" tIns="0" bIns="0" anchor="t">
            <a:spAutoFit/>
          </a:bodyPr>
          <a:lstStyle/>
          <a:p>
            <a:pPr algn="l">
              <a:lnSpc>
                <a:spcPct val="106000"/>
              </a:lnSpc>
              <a:spcAft>
                <a:spcPts val="600"/>
              </a:spcAft>
              <a:defRPr sz="1600" b="0">
                <a:solidFill>
                  <a:srgbClr val="253B33"/>
                </a:solidFill>
                <a:latin typeface="Aptos"/>
              </a:defRPr>
            </a:pPr>
            <a:r>
              <a:t>DHT11 and soil moisture sensor provide local condition readings.</a:t>
            </a:r>
          </a:p>
        </p:txBody>
      </p:sp>
      <p:sp>
        <p:nvSpPr>
          <p:cNvPr id="14" name="Rounded Rectangle 13"/>
          <p:cNvSpPr/>
          <p:nvPr/>
        </p:nvSpPr>
        <p:spPr>
          <a:xfrm>
            <a:off x="6437376" y="3346704"/>
            <a:ext cx="5166360" cy="121615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647688" y="3502152"/>
            <a:ext cx="4745736" cy="329184"/>
          </a:xfrm>
          <a:prstGeom prst="rect">
            <a:avLst/>
          </a:prstGeom>
          <a:noFill/>
          <a:effectLst/>
        </p:spPr>
        <p:txBody>
          <a:bodyPr wrap="square" lIns="0" rIns="0" tIns="0" bIns="0" anchor="t">
            <a:spAutoFit/>
          </a:bodyPr>
          <a:lstStyle/>
          <a:p>
            <a:pPr algn="l">
              <a:lnSpc>
                <a:spcPct val="106000"/>
              </a:lnSpc>
              <a:spcAft>
                <a:spcPts val="600"/>
              </a:spcAft>
              <a:defRPr sz="2000" b="1">
                <a:solidFill>
                  <a:srgbClr val="123D32"/>
                </a:solidFill>
                <a:latin typeface="Aptos"/>
              </a:defRPr>
            </a:pPr>
            <a:r>
              <a:t>Control</a:t>
            </a:r>
          </a:p>
        </p:txBody>
      </p:sp>
      <p:sp>
        <p:nvSpPr>
          <p:cNvPr id="16" name="TextBox 15"/>
          <p:cNvSpPr txBox="1"/>
          <p:nvPr/>
        </p:nvSpPr>
        <p:spPr>
          <a:xfrm>
            <a:off x="6647688" y="3986784"/>
            <a:ext cx="4745736" cy="484632"/>
          </a:xfrm>
          <a:prstGeom prst="rect">
            <a:avLst/>
          </a:prstGeom>
          <a:noFill/>
          <a:effectLst/>
        </p:spPr>
        <p:txBody>
          <a:bodyPr wrap="square" lIns="0" rIns="0" tIns="0" bIns="0" anchor="t">
            <a:spAutoFit/>
          </a:bodyPr>
          <a:lstStyle/>
          <a:p>
            <a:pPr algn="l">
              <a:lnSpc>
                <a:spcPct val="106000"/>
              </a:lnSpc>
              <a:spcAft>
                <a:spcPts val="600"/>
              </a:spcAft>
              <a:defRPr sz="1600" b="0">
                <a:solidFill>
                  <a:srgbClr val="253B33"/>
                </a:solidFill>
                <a:latin typeface="Aptos"/>
              </a:defRPr>
            </a:pPr>
            <a:r>
              <a:t>Arduino Uno reads inputs and sends commands to the L298N driver.</a:t>
            </a:r>
          </a:p>
        </p:txBody>
      </p:sp>
      <p:sp>
        <p:nvSpPr>
          <p:cNvPr id="17" name="Rounded Rectangle 16"/>
          <p:cNvSpPr/>
          <p:nvPr/>
        </p:nvSpPr>
        <p:spPr>
          <a:xfrm>
            <a:off x="6437376" y="4727448"/>
            <a:ext cx="5166360" cy="121615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47688" y="4882896"/>
            <a:ext cx="4745736" cy="329184"/>
          </a:xfrm>
          <a:prstGeom prst="rect">
            <a:avLst/>
          </a:prstGeom>
          <a:noFill/>
          <a:effectLst/>
        </p:spPr>
        <p:txBody>
          <a:bodyPr wrap="square" lIns="0" rIns="0" tIns="0" bIns="0" anchor="t">
            <a:spAutoFit/>
          </a:bodyPr>
          <a:lstStyle/>
          <a:p>
            <a:pPr algn="l">
              <a:lnSpc>
                <a:spcPct val="106000"/>
              </a:lnSpc>
              <a:spcAft>
                <a:spcPts val="600"/>
              </a:spcAft>
              <a:defRPr sz="2000" b="1">
                <a:solidFill>
                  <a:srgbClr val="123D32"/>
                </a:solidFill>
                <a:latin typeface="Aptos"/>
              </a:defRPr>
            </a:pPr>
            <a:r>
              <a:t>Mix</a:t>
            </a:r>
          </a:p>
        </p:txBody>
      </p:sp>
      <p:sp>
        <p:nvSpPr>
          <p:cNvPr id="19" name="TextBox 18"/>
          <p:cNvSpPr txBox="1"/>
          <p:nvPr/>
        </p:nvSpPr>
        <p:spPr>
          <a:xfrm>
            <a:off x="6647688" y="5367528"/>
            <a:ext cx="4745736" cy="484632"/>
          </a:xfrm>
          <a:prstGeom prst="rect">
            <a:avLst/>
          </a:prstGeom>
          <a:noFill/>
          <a:effectLst/>
        </p:spPr>
        <p:txBody>
          <a:bodyPr wrap="square" lIns="0" rIns="0" tIns="0" bIns="0" anchor="t">
            <a:spAutoFit/>
          </a:bodyPr>
          <a:lstStyle/>
          <a:p>
            <a:pPr algn="l">
              <a:lnSpc>
                <a:spcPct val="106000"/>
              </a:lnSpc>
              <a:spcAft>
                <a:spcPts val="600"/>
              </a:spcAft>
              <a:defRPr sz="1600" b="0">
                <a:solidFill>
                  <a:srgbClr val="253B33"/>
                </a:solidFill>
                <a:latin typeface="Aptos"/>
              </a:defRPr>
            </a:pPr>
            <a:r>
              <a:t>A 775 DC motor drives the proposed shaft-and-paddle assembly.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04 / COMPONENTS</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Hardware used in the project</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following components were specified by the project team.</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05</a:t>
            </a:r>
          </a:p>
        </p:txBody>
      </p:sp>
      <p:sp>
        <p:nvSpPr>
          <p:cNvPr id="9" name="Rounded Rectangle 8"/>
          <p:cNvSpPr/>
          <p:nvPr/>
        </p:nvSpPr>
        <p:spPr>
          <a:xfrm>
            <a:off x="566928" y="194767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2011679"/>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Arduino Uno</a:t>
            </a:r>
          </a:p>
        </p:txBody>
      </p:sp>
      <p:sp>
        <p:nvSpPr>
          <p:cNvPr id="11" name="TextBox 10"/>
          <p:cNvSpPr txBox="1"/>
          <p:nvPr/>
        </p:nvSpPr>
        <p:spPr>
          <a:xfrm>
            <a:off x="704088" y="231343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Central controller for sensor input and motor commands</a:t>
            </a:r>
          </a:p>
        </p:txBody>
      </p:sp>
      <p:sp>
        <p:nvSpPr>
          <p:cNvPr id="12" name="Rounded Rectangle 11"/>
          <p:cNvSpPr/>
          <p:nvPr/>
        </p:nvSpPr>
        <p:spPr>
          <a:xfrm>
            <a:off x="566928" y="272491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04088" y="278892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DHT11 sensor</a:t>
            </a:r>
          </a:p>
        </p:txBody>
      </p:sp>
      <p:sp>
        <p:nvSpPr>
          <p:cNvPr id="14" name="TextBox 13"/>
          <p:cNvSpPr txBox="1"/>
          <p:nvPr/>
        </p:nvSpPr>
        <p:spPr>
          <a:xfrm>
            <a:off x="704088" y="309067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Local air temperature and relative humidity sensing</a:t>
            </a:r>
          </a:p>
        </p:txBody>
      </p:sp>
      <p:sp>
        <p:nvSpPr>
          <p:cNvPr id="15" name="Rounded Rectangle 14"/>
          <p:cNvSpPr/>
          <p:nvPr/>
        </p:nvSpPr>
        <p:spPr>
          <a:xfrm>
            <a:off x="566928" y="350215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04088" y="356616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Soil moisture sensor</a:t>
            </a:r>
          </a:p>
        </p:txBody>
      </p:sp>
      <p:sp>
        <p:nvSpPr>
          <p:cNvPr id="17" name="TextBox 16"/>
          <p:cNvSpPr txBox="1"/>
          <p:nvPr/>
        </p:nvSpPr>
        <p:spPr>
          <a:xfrm>
            <a:off x="704088" y="386791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Relative wetness sensing; calibration required</a:t>
            </a:r>
          </a:p>
        </p:txBody>
      </p:sp>
      <p:sp>
        <p:nvSpPr>
          <p:cNvPr id="18" name="Rounded Rectangle 17"/>
          <p:cNvSpPr/>
          <p:nvPr/>
        </p:nvSpPr>
        <p:spPr>
          <a:xfrm>
            <a:off x="566928" y="427939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04088" y="434340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L298N motor driver</a:t>
            </a:r>
          </a:p>
        </p:txBody>
      </p:sp>
      <p:sp>
        <p:nvSpPr>
          <p:cNvPr id="20" name="TextBox 19"/>
          <p:cNvSpPr txBox="1"/>
          <p:nvPr/>
        </p:nvSpPr>
        <p:spPr>
          <a:xfrm>
            <a:off x="704088" y="464515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Interface between Arduino control signals and motor</a:t>
            </a:r>
          </a:p>
        </p:txBody>
      </p:sp>
      <p:sp>
        <p:nvSpPr>
          <p:cNvPr id="21" name="Rounded Rectangle 20"/>
          <p:cNvSpPr/>
          <p:nvPr/>
        </p:nvSpPr>
        <p:spPr>
          <a:xfrm>
            <a:off x="566928" y="5056631"/>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04088" y="512064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775 DC motor</a:t>
            </a:r>
          </a:p>
        </p:txBody>
      </p:sp>
      <p:sp>
        <p:nvSpPr>
          <p:cNvPr id="23" name="TextBox 22"/>
          <p:cNvSpPr txBox="1"/>
          <p:nvPr/>
        </p:nvSpPr>
        <p:spPr>
          <a:xfrm>
            <a:off x="704088" y="542239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Proposed source of rotation for the mixing mechanism</a:t>
            </a:r>
          </a:p>
        </p:txBody>
      </p:sp>
      <p:sp>
        <p:nvSpPr>
          <p:cNvPr id="24" name="Rounded Rectangle 23"/>
          <p:cNvSpPr/>
          <p:nvPr/>
        </p:nvSpPr>
        <p:spPr>
          <a:xfrm>
            <a:off x="6190488" y="194767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327648" y="2011679"/>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12 V / 2 A adapter</a:t>
            </a:r>
          </a:p>
        </p:txBody>
      </p:sp>
      <p:sp>
        <p:nvSpPr>
          <p:cNvPr id="26" name="TextBox 25"/>
          <p:cNvSpPr txBox="1"/>
          <p:nvPr/>
        </p:nvSpPr>
        <p:spPr>
          <a:xfrm>
            <a:off x="6327648" y="231343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Specified DC power supply; load suitability unverified</a:t>
            </a:r>
          </a:p>
        </p:txBody>
      </p:sp>
      <p:sp>
        <p:nvSpPr>
          <p:cNvPr id="27" name="Rounded Rectangle 26"/>
          <p:cNvSpPr/>
          <p:nvPr/>
        </p:nvSpPr>
        <p:spPr>
          <a:xfrm>
            <a:off x="6190488" y="272491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327648" y="278892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Voltage regulator</a:t>
            </a:r>
          </a:p>
        </p:txBody>
      </p:sp>
      <p:sp>
        <p:nvSpPr>
          <p:cNvPr id="29" name="TextBox 28"/>
          <p:cNvSpPr txBox="1"/>
          <p:nvPr/>
        </p:nvSpPr>
        <p:spPr>
          <a:xfrm>
            <a:off x="6327648" y="309067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Regulated electronics supply; model/output unspecified</a:t>
            </a:r>
          </a:p>
        </p:txBody>
      </p:sp>
      <p:sp>
        <p:nvSpPr>
          <p:cNvPr id="30" name="Rounded Rectangle 29"/>
          <p:cNvSpPr/>
          <p:nvPr/>
        </p:nvSpPr>
        <p:spPr>
          <a:xfrm>
            <a:off x="6190488" y="350215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327648" y="356616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10 L bucket</a:t>
            </a:r>
          </a:p>
        </p:txBody>
      </p:sp>
      <p:sp>
        <p:nvSpPr>
          <p:cNvPr id="32" name="TextBox 31"/>
          <p:cNvSpPr txBox="1"/>
          <p:nvPr/>
        </p:nvSpPr>
        <p:spPr>
          <a:xfrm>
            <a:off x="6327648" y="386791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Nominal container volume for the composting prototype</a:t>
            </a:r>
          </a:p>
        </p:txBody>
      </p:sp>
      <p:sp>
        <p:nvSpPr>
          <p:cNvPr id="33" name="Rounded Rectangle 32"/>
          <p:cNvSpPr/>
          <p:nvPr/>
        </p:nvSpPr>
        <p:spPr>
          <a:xfrm>
            <a:off x="6190488" y="4279392"/>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327648" y="434340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Partition plate</a:t>
            </a:r>
          </a:p>
        </p:txBody>
      </p:sp>
      <p:sp>
        <p:nvSpPr>
          <p:cNvPr id="35" name="TextBox 34"/>
          <p:cNvSpPr txBox="1"/>
          <p:nvPr/>
        </p:nvSpPr>
        <p:spPr>
          <a:xfrm>
            <a:off x="6327648" y="464515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Separates the upper chamber and lower drive space</a:t>
            </a:r>
          </a:p>
        </p:txBody>
      </p:sp>
      <p:sp>
        <p:nvSpPr>
          <p:cNvPr id="36" name="Rounded Rectangle 35"/>
          <p:cNvSpPr/>
          <p:nvPr/>
        </p:nvSpPr>
        <p:spPr>
          <a:xfrm>
            <a:off x="6190488" y="5056631"/>
            <a:ext cx="5413248" cy="67665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327648" y="5120640"/>
            <a:ext cx="5102352" cy="265176"/>
          </a:xfrm>
          <a:prstGeom prst="rect">
            <a:avLst/>
          </a:prstGeom>
          <a:noFill/>
          <a:effectLst/>
        </p:spPr>
        <p:txBody>
          <a:bodyPr wrap="square" lIns="0" rIns="0" tIns="0" bIns="0" anchor="t">
            <a:spAutoFit/>
          </a:bodyPr>
          <a:lstStyle/>
          <a:p>
            <a:pPr algn="l">
              <a:lnSpc>
                <a:spcPct val="106000"/>
              </a:lnSpc>
              <a:spcAft>
                <a:spcPts val="600"/>
              </a:spcAft>
              <a:defRPr sz="1700" b="1">
                <a:solidFill>
                  <a:srgbClr val="123D32"/>
                </a:solidFill>
                <a:latin typeface="Aptos"/>
              </a:defRPr>
            </a:pPr>
            <a:r>
              <a:t>Jumper wires</a:t>
            </a:r>
          </a:p>
        </p:txBody>
      </p:sp>
      <p:sp>
        <p:nvSpPr>
          <p:cNvPr id="38" name="TextBox 37"/>
          <p:cNvSpPr txBox="1"/>
          <p:nvPr/>
        </p:nvSpPr>
        <p:spPr>
          <a:xfrm>
            <a:off x="6327648" y="5422392"/>
            <a:ext cx="5102352" cy="256032"/>
          </a:xfrm>
          <a:prstGeom prst="rect">
            <a:avLst/>
          </a:prstGeom>
          <a:noFill/>
          <a:effectLst/>
        </p:spPr>
        <p:txBody>
          <a:bodyPr wrap="square" lIns="0" rIns="0" tIns="0" bIns="0" anchor="t">
            <a:spAutoFit/>
          </a:bodyPr>
          <a:lstStyle/>
          <a:p>
            <a:pPr algn="l">
              <a:lnSpc>
                <a:spcPct val="106000"/>
              </a:lnSpc>
              <a:spcAft>
                <a:spcPts val="600"/>
              </a:spcAft>
              <a:defRPr sz="1250" b="0">
                <a:solidFill>
                  <a:srgbClr val="64746A"/>
                </a:solidFill>
                <a:latin typeface="Aptos"/>
              </a:defRPr>
            </a:pPr>
            <a:r>
              <a:t>Low-current signal and prototype interconnections</a:t>
            </a:r>
          </a:p>
        </p:txBody>
      </p:sp>
      <p:sp>
        <p:nvSpPr>
          <p:cNvPr id="39" name="Rounded Rectangle 38"/>
          <p:cNvSpPr/>
          <p:nvPr/>
        </p:nvSpPr>
        <p:spPr>
          <a:xfrm>
            <a:off x="521207" y="5934456"/>
            <a:ext cx="11109960" cy="347472"/>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58368" y="6016752"/>
            <a:ext cx="10835640" cy="237744"/>
          </a:xfrm>
          <a:prstGeom prst="rect">
            <a:avLst/>
          </a:prstGeom>
          <a:noFill/>
          <a:effectLst/>
        </p:spPr>
        <p:txBody>
          <a:bodyPr wrap="square" lIns="0" rIns="0" tIns="0" bIns="0" anchor="t">
            <a:spAutoFit/>
          </a:bodyPr>
          <a:lstStyle/>
          <a:p>
            <a:pPr algn="l">
              <a:lnSpc>
                <a:spcPct val="106000"/>
              </a:lnSpc>
              <a:spcAft>
                <a:spcPts val="600"/>
              </a:spcAft>
              <a:defRPr sz="1200" b="0">
                <a:solidFill>
                  <a:srgbClr val="123D32"/>
                </a:solidFill>
                <a:latin typeface="Aptos"/>
              </a:defRPr>
            </a:pPr>
            <a:r>
              <a:t>The shaft, paddles, enclosure and display are shown in CAD; exact build details were not supplied.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05 / ARCHITECTURE</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Functional block diagram</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Conceptual signal and power paths—not a pin-level wiring diagram.</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06</a:t>
            </a:r>
          </a:p>
        </p:txBody>
      </p:sp>
      <p:sp>
        <p:nvSpPr>
          <p:cNvPr id="9" name="Rounded Rectangle 8"/>
          <p:cNvSpPr/>
          <p:nvPr/>
        </p:nvSpPr>
        <p:spPr>
          <a:xfrm>
            <a:off x="612648" y="2157984"/>
            <a:ext cx="2423160" cy="128016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0664" y="2322576"/>
            <a:ext cx="2167128" cy="411480"/>
          </a:xfrm>
          <a:prstGeom prst="rect">
            <a:avLst/>
          </a:prstGeom>
          <a:noFill/>
          <a:effectLst/>
        </p:spPr>
        <p:txBody>
          <a:bodyPr wrap="square" lIns="0" rIns="0" tIns="0" bIns="0" anchor="t">
            <a:spAutoFit/>
          </a:bodyPr>
          <a:lstStyle/>
          <a:p>
            <a:pPr algn="ctr">
              <a:lnSpc>
                <a:spcPct val="106000"/>
              </a:lnSpc>
              <a:spcAft>
                <a:spcPts val="600"/>
              </a:spcAft>
              <a:defRPr sz="1900" b="1">
                <a:solidFill>
                  <a:srgbClr val="123D32"/>
                </a:solidFill>
                <a:latin typeface="Aptos"/>
              </a:defRPr>
            </a:pPr>
            <a:r>
              <a:t>Sensors</a:t>
            </a:r>
          </a:p>
        </p:txBody>
      </p:sp>
      <p:sp>
        <p:nvSpPr>
          <p:cNvPr id="11" name="TextBox 10"/>
          <p:cNvSpPr txBox="1"/>
          <p:nvPr/>
        </p:nvSpPr>
        <p:spPr>
          <a:xfrm>
            <a:off x="740664" y="2816352"/>
            <a:ext cx="2167128" cy="566927"/>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DHT11 + soil moisture</a:t>
            </a:r>
          </a:p>
        </p:txBody>
      </p:sp>
      <p:sp>
        <p:nvSpPr>
          <p:cNvPr id="12" name="Rounded Rectangle 11"/>
          <p:cNvSpPr/>
          <p:nvPr/>
        </p:nvSpPr>
        <p:spPr>
          <a:xfrm>
            <a:off x="3465576" y="2157984"/>
            <a:ext cx="2423160" cy="1280160"/>
          </a:xfrm>
          <a:prstGeom prst="roundRect">
            <a:avLst>
              <a:gd name="adj" fmla="val 8000"/>
            </a:avLst>
          </a:prstGeom>
          <a:solidFill>
            <a:srgbClr val="E9F0E5"/>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3593592" y="2322576"/>
            <a:ext cx="2167128" cy="411480"/>
          </a:xfrm>
          <a:prstGeom prst="rect">
            <a:avLst/>
          </a:prstGeom>
          <a:noFill/>
          <a:effectLst/>
        </p:spPr>
        <p:txBody>
          <a:bodyPr wrap="square" lIns="0" rIns="0" tIns="0" bIns="0" anchor="t">
            <a:spAutoFit/>
          </a:bodyPr>
          <a:lstStyle/>
          <a:p>
            <a:pPr algn="ctr">
              <a:lnSpc>
                <a:spcPct val="106000"/>
              </a:lnSpc>
              <a:spcAft>
                <a:spcPts val="600"/>
              </a:spcAft>
              <a:defRPr sz="1900" b="1">
                <a:solidFill>
                  <a:srgbClr val="123D32"/>
                </a:solidFill>
                <a:latin typeface="Aptos"/>
              </a:defRPr>
            </a:pPr>
            <a:r>
              <a:t>Arduino Uno</a:t>
            </a:r>
          </a:p>
        </p:txBody>
      </p:sp>
      <p:sp>
        <p:nvSpPr>
          <p:cNvPr id="14" name="TextBox 13"/>
          <p:cNvSpPr txBox="1"/>
          <p:nvPr/>
        </p:nvSpPr>
        <p:spPr>
          <a:xfrm>
            <a:off x="3593592" y="2816352"/>
            <a:ext cx="2167128" cy="566927"/>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Read inputs • run logic</a:t>
            </a:r>
          </a:p>
        </p:txBody>
      </p:sp>
      <p:sp>
        <p:nvSpPr>
          <p:cNvPr id="15" name="Rounded Rectangle 14"/>
          <p:cNvSpPr/>
          <p:nvPr/>
        </p:nvSpPr>
        <p:spPr>
          <a:xfrm>
            <a:off x="6318504" y="2157984"/>
            <a:ext cx="2423160" cy="128016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46520" y="2322576"/>
            <a:ext cx="2167128" cy="411480"/>
          </a:xfrm>
          <a:prstGeom prst="rect">
            <a:avLst/>
          </a:prstGeom>
          <a:noFill/>
          <a:effectLst/>
        </p:spPr>
        <p:txBody>
          <a:bodyPr wrap="square" lIns="0" rIns="0" tIns="0" bIns="0" anchor="t">
            <a:spAutoFit/>
          </a:bodyPr>
          <a:lstStyle/>
          <a:p>
            <a:pPr algn="ctr">
              <a:lnSpc>
                <a:spcPct val="106000"/>
              </a:lnSpc>
              <a:spcAft>
                <a:spcPts val="600"/>
              </a:spcAft>
              <a:defRPr sz="1900" b="1">
                <a:solidFill>
                  <a:srgbClr val="123D32"/>
                </a:solidFill>
                <a:latin typeface="Aptos"/>
              </a:defRPr>
            </a:pPr>
            <a:r>
              <a:t>L298N</a:t>
            </a:r>
          </a:p>
        </p:txBody>
      </p:sp>
      <p:sp>
        <p:nvSpPr>
          <p:cNvPr id="17" name="TextBox 16"/>
          <p:cNvSpPr txBox="1"/>
          <p:nvPr/>
        </p:nvSpPr>
        <p:spPr>
          <a:xfrm>
            <a:off x="6446520" y="2816352"/>
            <a:ext cx="2167128" cy="566927"/>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Motor control stage</a:t>
            </a:r>
          </a:p>
        </p:txBody>
      </p:sp>
      <p:sp>
        <p:nvSpPr>
          <p:cNvPr id="18" name="Rounded Rectangle 17"/>
          <p:cNvSpPr/>
          <p:nvPr/>
        </p:nvSpPr>
        <p:spPr>
          <a:xfrm>
            <a:off x="9171432" y="2157984"/>
            <a:ext cx="2423160" cy="128016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299448" y="2322576"/>
            <a:ext cx="2167128" cy="411480"/>
          </a:xfrm>
          <a:prstGeom prst="rect">
            <a:avLst/>
          </a:prstGeom>
          <a:noFill/>
          <a:effectLst/>
        </p:spPr>
        <p:txBody>
          <a:bodyPr wrap="square" lIns="0" rIns="0" tIns="0" bIns="0" anchor="t">
            <a:spAutoFit/>
          </a:bodyPr>
          <a:lstStyle/>
          <a:p>
            <a:pPr algn="ctr">
              <a:lnSpc>
                <a:spcPct val="106000"/>
              </a:lnSpc>
              <a:spcAft>
                <a:spcPts val="600"/>
              </a:spcAft>
              <a:defRPr sz="1900" b="1">
                <a:solidFill>
                  <a:srgbClr val="123D32"/>
                </a:solidFill>
                <a:latin typeface="Aptos"/>
              </a:defRPr>
            </a:pPr>
            <a:r>
              <a:t>775 motor</a:t>
            </a:r>
          </a:p>
        </p:txBody>
      </p:sp>
      <p:sp>
        <p:nvSpPr>
          <p:cNvPr id="20" name="TextBox 19"/>
          <p:cNvSpPr txBox="1"/>
          <p:nvPr/>
        </p:nvSpPr>
        <p:spPr>
          <a:xfrm>
            <a:off x="9299448" y="2816352"/>
            <a:ext cx="2167128" cy="566927"/>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Shaft + mixing paddles</a:t>
            </a:r>
          </a:p>
        </p:txBody>
      </p:sp>
      <p:cxnSp>
        <p:nvCxnSpPr>
          <p:cNvPr id="21" name="Connector 20"/>
          <p:cNvCxnSpPr/>
          <p:nvPr/>
        </p:nvCxnSpPr>
        <p:spPr>
          <a:xfrm>
            <a:off x="3035808" y="2798064"/>
            <a:ext cx="402336"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5888736" y="2798064"/>
            <a:ext cx="402336"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8741664" y="2798064"/>
            <a:ext cx="402336"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3465576" y="4251960"/>
            <a:ext cx="2423160" cy="1234440"/>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3593592" y="4416552"/>
            <a:ext cx="2167128" cy="411480"/>
          </a:xfrm>
          <a:prstGeom prst="rect">
            <a:avLst/>
          </a:prstGeom>
          <a:noFill/>
          <a:effectLst/>
        </p:spPr>
        <p:txBody>
          <a:bodyPr wrap="square" lIns="0" rIns="0" tIns="0" bIns="0" anchor="t">
            <a:spAutoFit/>
          </a:bodyPr>
          <a:lstStyle/>
          <a:p>
            <a:pPr algn="ctr">
              <a:lnSpc>
                <a:spcPct val="106000"/>
              </a:lnSpc>
              <a:spcAft>
                <a:spcPts val="600"/>
              </a:spcAft>
              <a:defRPr sz="1900" b="1">
                <a:solidFill>
                  <a:srgbClr val="123D32"/>
                </a:solidFill>
                <a:latin typeface="Aptos"/>
              </a:defRPr>
            </a:pPr>
            <a:r>
              <a:t>Regulator</a:t>
            </a:r>
          </a:p>
        </p:txBody>
      </p:sp>
      <p:sp>
        <p:nvSpPr>
          <p:cNvPr id="26" name="TextBox 25"/>
          <p:cNvSpPr txBox="1"/>
          <p:nvPr/>
        </p:nvSpPr>
        <p:spPr>
          <a:xfrm>
            <a:off x="3593592" y="4910328"/>
            <a:ext cx="2167128" cy="521208"/>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Verify output and rating</a:t>
            </a:r>
          </a:p>
        </p:txBody>
      </p:sp>
      <p:sp>
        <p:nvSpPr>
          <p:cNvPr id="27" name="Rounded Rectangle 26"/>
          <p:cNvSpPr/>
          <p:nvPr/>
        </p:nvSpPr>
        <p:spPr>
          <a:xfrm>
            <a:off x="6318504" y="4251960"/>
            <a:ext cx="2423160" cy="1234440"/>
          </a:xfrm>
          <a:prstGeom prst="roundRect">
            <a:avLst>
              <a:gd name="adj" fmla="val 8000"/>
            </a:avLst>
          </a:prstGeom>
          <a:solidFill>
            <a:srgbClr val="E9F0E5"/>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446520" y="4416552"/>
            <a:ext cx="2167128" cy="411480"/>
          </a:xfrm>
          <a:prstGeom prst="rect">
            <a:avLst/>
          </a:prstGeom>
          <a:noFill/>
          <a:effectLst/>
        </p:spPr>
        <p:txBody>
          <a:bodyPr wrap="square" lIns="0" rIns="0" tIns="0" bIns="0" anchor="t">
            <a:spAutoFit/>
          </a:bodyPr>
          <a:lstStyle/>
          <a:p>
            <a:pPr algn="ctr">
              <a:lnSpc>
                <a:spcPct val="106000"/>
              </a:lnSpc>
              <a:spcAft>
                <a:spcPts val="600"/>
              </a:spcAft>
              <a:defRPr sz="1700" b="1">
                <a:solidFill>
                  <a:srgbClr val="123D32"/>
                </a:solidFill>
                <a:latin typeface="Aptos"/>
              </a:defRPr>
            </a:pPr>
            <a:r>
              <a:t>12 V / 2 A adapter</a:t>
            </a:r>
          </a:p>
        </p:txBody>
      </p:sp>
      <p:sp>
        <p:nvSpPr>
          <p:cNvPr id="29" name="TextBox 28"/>
          <p:cNvSpPr txBox="1"/>
          <p:nvPr/>
        </p:nvSpPr>
        <p:spPr>
          <a:xfrm>
            <a:off x="6446520" y="4910328"/>
            <a:ext cx="2167128" cy="521208"/>
          </a:xfrm>
          <a:prstGeom prst="rect">
            <a:avLst/>
          </a:prstGeom>
          <a:noFill/>
          <a:effectLst/>
        </p:spPr>
        <p:txBody>
          <a:bodyPr wrap="square" lIns="0" rIns="0" tIns="0" bIns="0" anchor="t">
            <a:spAutoFit/>
          </a:bodyPr>
          <a:lstStyle/>
          <a:p>
            <a:pPr algn="ctr">
              <a:lnSpc>
                <a:spcPct val="106000"/>
              </a:lnSpc>
              <a:spcAft>
                <a:spcPts val="600"/>
              </a:spcAft>
              <a:defRPr sz="1400" b="0">
                <a:solidFill>
                  <a:srgbClr val="64746A"/>
                </a:solidFill>
                <a:latin typeface="Aptos"/>
              </a:defRPr>
            </a:pPr>
            <a:r>
              <a:t>Power source specified</a:t>
            </a:r>
          </a:p>
        </p:txBody>
      </p:sp>
      <p:cxnSp>
        <p:nvCxnSpPr>
          <p:cNvPr id="30" name="Connector 29"/>
          <p:cNvCxnSpPr/>
          <p:nvPr/>
        </p:nvCxnSpPr>
        <p:spPr>
          <a:xfrm flipH="1">
            <a:off x="5907024" y="4864608"/>
            <a:ext cx="411480" cy="0"/>
          </a:xfrm>
          <a:prstGeom prst="line">
            <a:avLst/>
          </a:prstGeom>
          <a:ln w="25400">
            <a:solidFill>
              <a:srgbClr val="A76A21"/>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flipV="1">
            <a:off x="4681728" y="3483864"/>
            <a:ext cx="0" cy="768096"/>
          </a:xfrm>
          <a:prstGeom prst="line">
            <a:avLst/>
          </a:prstGeom>
          <a:ln w="25400">
            <a:solidFill>
              <a:srgbClr val="A76A21"/>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V="1">
            <a:off x="7534656" y="3483864"/>
            <a:ext cx="0" cy="768096"/>
          </a:xfrm>
          <a:prstGeom prst="line">
            <a:avLst/>
          </a:prstGeom>
          <a:ln w="25400">
            <a:solidFill>
              <a:srgbClr val="A76A21"/>
            </a:solidFill>
            <a:tailEnd type="triangle"/>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31520" y="4315968"/>
            <a:ext cx="2423160" cy="822960"/>
          </a:xfrm>
          <a:prstGeom prst="rect">
            <a:avLst/>
          </a:prstGeom>
          <a:noFill/>
          <a:effectLst/>
        </p:spPr>
        <p:txBody>
          <a:bodyPr wrap="square" lIns="0" rIns="0" tIns="0" bIns="0" anchor="t">
            <a:spAutoFit/>
          </a:bodyPr>
          <a:lstStyle/>
          <a:p>
            <a:pPr algn="l">
              <a:lnSpc>
                <a:spcPct val="106000"/>
              </a:lnSpc>
              <a:spcAft>
                <a:spcPts val="600"/>
              </a:spcAft>
              <a:defRPr sz="1700" b="0">
                <a:solidFill>
                  <a:srgbClr val="64746A"/>
                </a:solidFill>
                <a:latin typeface="Aptos"/>
              </a:defRPr>
            </a:pPr>
            <a:r>
              <a:t>Regulated supply</a:t>
            </a:r>
          </a:p>
          <a:p>
            <a:pPr algn="l">
              <a:lnSpc>
                <a:spcPct val="106000"/>
              </a:lnSpc>
              <a:spcAft>
                <a:spcPts val="600"/>
              </a:spcAft>
              <a:defRPr sz="1700" b="0">
                <a:solidFill>
                  <a:srgbClr val="64746A"/>
                </a:solidFill>
                <a:latin typeface="Aptos"/>
              </a:defRPr>
            </a:pPr>
            <a:r>
              <a:t>for controller/sensors</a:t>
            </a:r>
          </a:p>
        </p:txBody>
      </p:sp>
      <p:sp>
        <p:nvSpPr>
          <p:cNvPr id="34" name="TextBox 33"/>
          <p:cNvSpPr txBox="1"/>
          <p:nvPr/>
        </p:nvSpPr>
        <p:spPr>
          <a:xfrm>
            <a:off x="9180576" y="4315968"/>
            <a:ext cx="2386584" cy="914400"/>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Green: signal / control</a:t>
            </a:r>
          </a:p>
          <a:p>
            <a:pPr algn="l">
              <a:lnSpc>
                <a:spcPct val="106000"/>
              </a:lnSpc>
              <a:spcAft>
                <a:spcPts val="600"/>
              </a:spcAft>
              <a:defRPr sz="1500" b="0">
                <a:solidFill>
                  <a:srgbClr val="64746A"/>
                </a:solidFill>
                <a:latin typeface="Aptos"/>
              </a:defRPr>
            </a:pPr>
            <a:r>
              <a:t>Amber: conceptual power</a:t>
            </a:r>
          </a:p>
        </p:txBody>
      </p:sp>
      <p:sp>
        <p:nvSpPr>
          <p:cNvPr id="35" name="Rounded Rectangle 34"/>
          <p:cNvSpPr/>
          <p:nvPr/>
        </p:nvSpPr>
        <p:spPr>
          <a:xfrm>
            <a:off x="521207" y="5879592"/>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658368" y="5961888"/>
            <a:ext cx="10835640"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A76A21"/>
                </a:solidFill>
                <a:latin typeface="Aptos"/>
              </a:defRPr>
            </a:pPr>
            <a:r>
              <a:t>Common signal ground is required. Never power the motor from an Arduino I/O pin.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06 / WORKING PRINCIPLE</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Proposed working sequence</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An explanatory operating cycle; actual firmware timing and thresholds were not supplied.</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07</a:t>
            </a:r>
          </a:p>
        </p:txBody>
      </p:sp>
      <p:sp>
        <p:nvSpPr>
          <p:cNvPr id="9" name="Rounded Rectangle 8"/>
          <p:cNvSpPr/>
          <p:nvPr/>
        </p:nvSpPr>
        <p:spPr>
          <a:xfrm>
            <a:off x="566928" y="2221992"/>
            <a:ext cx="2039112" cy="309067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40664" y="2441448"/>
            <a:ext cx="1645920" cy="484632"/>
          </a:xfrm>
          <a:prstGeom prst="rect">
            <a:avLst/>
          </a:prstGeom>
          <a:noFill/>
          <a:effectLst/>
        </p:spPr>
        <p:txBody>
          <a:bodyPr wrap="square" lIns="0" rIns="0" tIns="0" bIns="0" anchor="t">
            <a:spAutoFit/>
          </a:bodyPr>
          <a:lstStyle/>
          <a:p>
            <a:pPr algn="l">
              <a:lnSpc>
                <a:spcPct val="106000"/>
              </a:lnSpc>
              <a:spcAft>
                <a:spcPts val="600"/>
              </a:spcAft>
              <a:defRPr sz="2900" b="1">
                <a:solidFill>
                  <a:srgbClr val="247A52"/>
                </a:solidFill>
                <a:latin typeface="Aptos"/>
              </a:defRPr>
            </a:pPr>
            <a:r>
              <a:t>01</a:t>
            </a:r>
          </a:p>
        </p:txBody>
      </p:sp>
      <p:sp>
        <p:nvSpPr>
          <p:cNvPr id="11" name="TextBox 10"/>
          <p:cNvSpPr txBox="1"/>
          <p:nvPr/>
        </p:nvSpPr>
        <p:spPr>
          <a:xfrm>
            <a:off x="740664" y="3127248"/>
            <a:ext cx="1691640" cy="438912"/>
          </a:xfrm>
          <a:prstGeom prst="rect">
            <a:avLst/>
          </a:prstGeom>
          <a:noFill/>
          <a:effectLst/>
        </p:spPr>
        <p:txBody>
          <a:bodyPr wrap="square" lIns="0" rIns="0" tIns="0" bIns="0" anchor="t">
            <a:spAutoFit/>
          </a:bodyPr>
          <a:lstStyle/>
          <a:p>
            <a:pPr algn="l">
              <a:lnSpc>
                <a:spcPct val="106000"/>
              </a:lnSpc>
              <a:spcAft>
                <a:spcPts val="600"/>
              </a:spcAft>
              <a:defRPr sz="2300" b="1">
                <a:solidFill>
                  <a:srgbClr val="123D32"/>
                </a:solidFill>
                <a:latin typeface="Aptos"/>
              </a:defRPr>
            </a:pPr>
            <a:r>
              <a:t>Load</a:t>
            </a:r>
          </a:p>
        </p:txBody>
      </p:sp>
      <p:sp>
        <p:nvSpPr>
          <p:cNvPr id="12" name="TextBox 11"/>
          <p:cNvSpPr txBox="1"/>
          <p:nvPr/>
        </p:nvSpPr>
        <p:spPr>
          <a:xfrm>
            <a:off x="740664" y="3803904"/>
            <a:ext cx="1691640" cy="1234440"/>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Add suitable organic waste and dry carbon-rich material.</a:t>
            </a:r>
          </a:p>
        </p:txBody>
      </p:sp>
      <p:cxnSp>
        <p:nvCxnSpPr>
          <p:cNvPr id="13" name="Connector 12"/>
          <p:cNvCxnSpPr/>
          <p:nvPr/>
        </p:nvCxnSpPr>
        <p:spPr>
          <a:xfrm>
            <a:off x="2615184" y="3410712"/>
            <a:ext cx="182880"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sp>
        <p:nvSpPr>
          <p:cNvPr id="14" name="Rounded Rectangle 13"/>
          <p:cNvSpPr/>
          <p:nvPr/>
        </p:nvSpPr>
        <p:spPr>
          <a:xfrm>
            <a:off x="2825496" y="2221992"/>
            <a:ext cx="2039112" cy="309067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999232" y="2441448"/>
            <a:ext cx="1645920" cy="484632"/>
          </a:xfrm>
          <a:prstGeom prst="rect">
            <a:avLst/>
          </a:prstGeom>
          <a:noFill/>
          <a:effectLst/>
        </p:spPr>
        <p:txBody>
          <a:bodyPr wrap="square" lIns="0" rIns="0" tIns="0" bIns="0" anchor="t">
            <a:spAutoFit/>
          </a:bodyPr>
          <a:lstStyle/>
          <a:p>
            <a:pPr algn="l">
              <a:lnSpc>
                <a:spcPct val="106000"/>
              </a:lnSpc>
              <a:spcAft>
                <a:spcPts val="600"/>
              </a:spcAft>
              <a:defRPr sz="2900" b="1">
                <a:solidFill>
                  <a:srgbClr val="247A52"/>
                </a:solidFill>
                <a:latin typeface="Aptos"/>
              </a:defRPr>
            </a:pPr>
            <a:r>
              <a:t>02</a:t>
            </a:r>
          </a:p>
        </p:txBody>
      </p:sp>
      <p:sp>
        <p:nvSpPr>
          <p:cNvPr id="16" name="TextBox 15"/>
          <p:cNvSpPr txBox="1"/>
          <p:nvPr/>
        </p:nvSpPr>
        <p:spPr>
          <a:xfrm>
            <a:off x="2999232" y="3127248"/>
            <a:ext cx="1691640" cy="438912"/>
          </a:xfrm>
          <a:prstGeom prst="rect">
            <a:avLst/>
          </a:prstGeom>
          <a:noFill/>
          <a:effectLst/>
        </p:spPr>
        <p:txBody>
          <a:bodyPr wrap="square" lIns="0" rIns="0" tIns="0" bIns="0" anchor="t">
            <a:spAutoFit/>
          </a:bodyPr>
          <a:lstStyle/>
          <a:p>
            <a:pPr algn="l">
              <a:lnSpc>
                <a:spcPct val="106000"/>
              </a:lnSpc>
              <a:spcAft>
                <a:spcPts val="600"/>
              </a:spcAft>
              <a:defRPr sz="2300" b="1">
                <a:solidFill>
                  <a:srgbClr val="123D32"/>
                </a:solidFill>
                <a:latin typeface="Aptos"/>
              </a:defRPr>
            </a:pPr>
            <a:r>
              <a:t>Sense</a:t>
            </a:r>
          </a:p>
        </p:txBody>
      </p:sp>
      <p:sp>
        <p:nvSpPr>
          <p:cNvPr id="17" name="TextBox 16"/>
          <p:cNvSpPr txBox="1"/>
          <p:nvPr/>
        </p:nvSpPr>
        <p:spPr>
          <a:xfrm>
            <a:off x="2999232" y="3803904"/>
            <a:ext cx="1691640" cy="1234440"/>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Read temperature and relative moisture conditions.</a:t>
            </a:r>
          </a:p>
        </p:txBody>
      </p:sp>
      <p:cxnSp>
        <p:nvCxnSpPr>
          <p:cNvPr id="18" name="Connector 17"/>
          <p:cNvCxnSpPr/>
          <p:nvPr/>
        </p:nvCxnSpPr>
        <p:spPr>
          <a:xfrm>
            <a:off x="4873752" y="3410712"/>
            <a:ext cx="182880"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5084064" y="2221992"/>
            <a:ext cx="2039112" cy="309067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57800" y="2441448"/>
            <a:ext cx="1645920" cy="484632"/>
          </a:xfrm>
          <a:prstGeom prst="rect">
            <a:avLst/>
          </a:prstGeom>
          <a:noFill/>
          <a:effectLst/>
        </p:spPr>
        <p:txBody>
          <a:bodyPr wrap="square" lIns="0" rIns="0" tIns="0" bIns="0" anchor="t">
            <a:spAutoFit/>
          </a:bodyPr>
          <a:lstStyle/>
          <a:p>
            <a:pPr algn="l">
              <a:lnSpc>
                <a:spcPct val="106000"/>
              </a:lnSpc>
              <a:spcAft>
                <a:spcPts val="600"/>
              </a:spcAft>
              <a:defRPr sz="2900" b="1">
                <a:solidFill>
                  <a:srgbClr val="247A52"/>
                </a:solidFill>
                <a:latin typeface="Aptos"/>
              </a:defRPr>
            </a:pPr>
            <a:r>
              <a:t>03</a:t>
            </a:r>
          </a:p>
        </p:txBody>
      </p:sp>
      <p:sp>
        <p:nvSpPr>
          <p:cNvPr id="21" name="TextBox 20"/>
          <p:cNvSpPr txBox="1"/>
          <p:nvPr/>
        </p:nvSpPr>
        <p:spPr>
          <a:xfrm>
            <a:off x="5257800" y="3127248"/>
            <a:ext cx="1691640" cy="438912"/>
          </a:xfrm>
          <a:prstGeom prst="rect">
            <a:avLst/>
          </a:prstGeom>
          <a:noFill/>
          <a:effectLst/>
        </p:spPr>
        <p:txBody>
          <a:bodyPr wrap="square" lIns="0" rIns="0" tIns="0" bIns="0" anchor="t">
            <a:spAutoFit/>
          </a:bodyPr>
          <a:lstStyle/>
          <a:p>
            <a:pPr algn="l">
              <a:lnSpc>
                <a:spcPct val="106000"/>
              </a:lnSpc>
              <a:spcAft>
                <a:spcPts val="600"/>
              </a:spcAft>
              <a:defRPr sz="2300" b="1">
                <a:solidFill>
                  <a:srgbClr val="123D32"/>
                </a:solidFill>
                <a:latin typeface="Aptos"/>
              </a:defRPr>
            </a:pPr>
            <a:r>
              <a:t>Evaluate</a:t>
            </a:r>
          </a:p>
        </p:txBody>
      </p:sp>
      <p:sp>
        <p:nvSpPr>
          <p:cNvPr id="22" name="TextBox 21"/>
          <p:cNvSpPr txBox="1"/>
          <p:nvPr/>
        </p:nvSpPr>
        <p:spPr>
          <a:xfrm>
            <a:off x="5257800" y="3803904"/>
            <a:ext cx="1691640" cy="1234440"/>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Apply programmed timing and check sensor validity.</a:t>
            </a:r>
          </a:p>
        </p:txBody>
      </p:sp>
      <p:cxnSp>
        <p:nvCxnSpPr>
          <p:cNvPr id="23" name="Connector 22"/>
          <p:cNvCxnSpPr/>
          <p:nvPr/>
        </p:nvCxnSpPr>
        <p:spPr>
          <a:xfrm>
            <a:off x="7132320" y="3410712"/>
            <a:ext cx="182880"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7342631" y="2221992"/>
            <a:ext cx="2039112" cy="309067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516367" y="2441448"/>
            <a:ext cx="1645920" cy="484632"/>
          </a:xfrm>
          <a:prstGeom prst="rect">
            <a:avLst/>
          </a:prstGeom>
          <a:noFill/>
          <a:effectLst/>
        </p:spPr>
        <p:txBody>
          <a:bodyPr wrap="square" lIns="0" rIns="0" tIns="0" bIns="0" anchor="t">
            <a:spAutoFit/>
          </a:bodyPr>
          <a:lstStyle/>
          <a:p>
            <a:pPr algn="l">
              <a:lnSpc>
                <a:spcPct val="106000"/>
              </a:lnSpc>
              <a:spcAft>
                <a:spcPts val="600"/>
              </a:spcAft>
              <a:defRPr sz="2900" b="1">
                <a:solidFill>
                  <a:srgbClr val="247A52"/>
                </a:solidFill>
                <a:latin typeface="Aptos"/>
              </a:defRPr>
            </a:pPr>
            <a:r>
              <a:t>04</a:t>
            </a:r>
          </a:p>
        </p:txBody>
      </p:sp>
      <p:sp>
        <p:nvSpPr>
          <p:cNvPr id="26" name="TextBox 25"/>
          <p:cNvSpPr txBox="1"/>
          <p:nvPr/>
        </p:nvSpPr>
        <p:spPr>
          <a:xfrm>
            <a:off x="7516367" y="3127248"/>
            <a:ext cx="1691640" cy="438912"/>
          </a:xfrm>
          <a:prstGeom prst="rect">
            <a:avLst/>
          </a:prstGeom>
          <a:noFill/>
          <a:effectLst/>
        </p:spPr>
        <p:txBody>
          <a:bodyPr wrap="square" lIns="0" rIns="0" tIns="0" bIns="0" anchor="t">
            <a:spAutoFit/>
          </a:bodyPr>
          <a:lstStyle/>
          <a:p>
            <a:pPr algn="l">
              <a:lnSpc>
                <a:spcPct val="106000"/>
              </a:lnSpc>
              <a:spcAft>
                <a:spcPts val="600"/>
              </a:spcAft>
              <a:defRPr sz="2300" b="1">
                <a:solidFill>
                  <a:srgbClr val="123D32"/>
                </a:solidFill>
                <a:latin typeface="Aptos"/>
              </a:defRPr>
            </a:pPr>
            <a:r>
              <a:t>Mix</a:t>
            </a:r>
          </a:p>
        </p:txBody>
      </p:sp>
      <p:sp>
        <p:nvSpPr>
          <p:cNvPr id="27" name="TextBox 26"/>
          <p:cNvSpPr txBox="1"/>
          <p:nvPr/>
        </p:nvSpPr>
        <p:spPr>
          <a:xfrm>
            <a:off x="7516367" y="3803904"/>
            <a:ext cx="1691640" cy="1234440"/>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Run a controlled mixing cycle with the lid secured.</a:t>
            </a:r>
          </a:p>
        </p:txBody>
      </p:sp>
      <p:cxnSp>
        <p:nvCxnSpPr>
          <p:cNvPr id="28" name="Connector 27"/>
          <p:cNvCxnSpPr/>
          <p:nvPr/>
        </p:nvCxnSpPr>
        <p:spPr>
          <a:xfrm>
            <a:off x="9390888" y="3410712"/>
            <a:ext cx="182879" cy="0"/>
          </a:xfrm>
          <a:prstGeom prst="line">
            <a:avLst/>
          </a:prstGeom>
          <a:ln w="25400">
            <a:solidFill>
              <a:srgbClr val="247A52"/>
            </a:solidFill>
            <a:tailEnd type="triangle"/>
          </a:ln>
          <a:effectLst/>
        </p:spPr>
        <p:style>
          <a:lnRef idx="2">
            <a:schemeClr val="accent1"/>
          </a:lnRef>
          <a:fillRef idx="0">
            <a:schemeClr val="accent1"/>
          </a:fillRef>
          <a:effectRef idx="0">
            <a:schemeClr val="accent1"/>
          </a:effectRef>
          <a:fontRef idx="minor">
            <a:schemeClr val="tx1"/>
          </a:fontRef>
        </p:style>
      </p:cxnSp>
      <p:sp>
        <p:nvSpPr>
          <p:cNvPr id="29" name="Rounded Rectangle 28"/>
          <p:cNvSpPr/>
          <p:nvPr/>
        </p:nvSpPr>
        <p:spPr>
          <a:xfrm>
            <a:off x="9601200" y="2221992"/>
            <a:ext cx="2039112" cy="309067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774936" y="2441448"/>
            <a:ext cx="1645920" cy="484632"/>
          </a:xfrm>
          <a:prstGeom prst="rect">
            <a:avLst/>
          </a:prstGeom>
          <a:noFill/>
          <a:effectLst/>
        </p:spPr>
        <p:txBody>
          <a:bodyPr wrap="square" lIns="0" rIns="0" tIns="0" bIns="0" anchor="t">
            <a:spAutoFit/>
          </a:bodyPr>
          <a:lstStyle/>
          <a:p>
            <a:pPr algn="l">
              <a:lnSpc>
                <a:spcPct val="106000"/>
              </a:lnSpc>
              <a:spcAft>
                <a:spcPts val="600"/>
              </a:spcAft>
              <a:defRPr sz="2900" b="1">
                <a:solidFill>
                  <a:srgbClr val="247A52"/>
                </a:solidFill>
                <a:latin typeface="Aptos"/>
              </a:defRPr>
            </a:pPr>
            <a:r>
              <a:t>05</a:t>
            </a:r>
          </a:p>
        </p:txBody>
      </p:sp>
      <p:sp>
        <p:nvSpPr>
          <p:cNvPr id="31" name="TextBox 30"/>
          <p:cNvSpPr txBox="1"/>
          <p:nvPr/>
        </p:nvSpPr>
        <p:spPr>
          <a:xfrm>
            <a:off x="9774936" y="3127248"/>
            <a:ext cx="1691640" cy="438912"/>
          </a:xfrm>
          <a:prstGeom prst="rect">
            <a:avLst/>
          </a:prstGeom>
          <a:noFill/>
          <a:effectLst/>
        </p:spPr>
        <p:txBody>
          <a:bodyPr wrap="square" lIns="0" rIns="0" tIns="0" bIns="0" anchor="t">
            <a:spAutoFit/>
          </a:bodyPr>
          <a:lstStyle/>
          <a:p>
            <a:pPr algn="l">
              <a:lnSpc>
                <a:spcPct val="106000"/>
              </a:lnSpc>
              <a:spcAft>
                <a:spcPts val="600"/>
              </a:spcAft>
              <a:defRPr sz="2300" b="1">
                <a:solidFill>
                  <a:srgbClr val="123D32"/>
                </a:solidFill>
                <a:latin typeface="Aptos"/>
              </a:defRPr>
            </a:pPr>
            <a:r>
              <a:t>Review</a:t>
            </a:r>
          </a:p>
        </p:txBody>
      </p:sp>
      <p:sp>
        <p:nvSpPr>
          <p:cNvPr id="32" name="TextBox 31"/>
          <p:cNvSpPr txBox="1"/>
          <p:nvPr/>
        </p:nvSpPr>
        <p:spPr>
          <a:xfrm>
            <a:off x="9774936" y="3803904"/>
            <a:ext cx="1691640" cy="1234440"/>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Log observations and manually adjust moisture or feedstock.</a:t>
            </a:r>
          </a:p>
        </p:txBody>
      </p:sp>
      <p:sp>
        <p:nvSpPr>
          <p:cNvPr id="33" name="Rounded Rectangle 32"/>
          <p:cNvSpPr/>
          <p:nvPr/>
        </p:nvSpPr>
        <p:spPr>
          <a:xfrm>
            <a:off x="521207" y="5806440"/>
            <a:ext cx="11109960" cy="420624"/>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58368" y="5888736"/>
            <a:ext cx="10835640"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123D32"/>
                </a:solidFill>
                <a:latin typeface="Aptos"/>
              </a:defRPr>
            </a:pPr>
            <a:r>
              <a:t>No pump, heater, fan or wireless module was specified; those functions are not claimed as implemented.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07 / CAD DESIGN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Complete assembly: front and top</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Conceptual CAD views—not to verified 10 L scale. Vessel, lid, electronics box and lower access cover.</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08</a:t>
            </a:r>
          </a:p>
        </p:txBody>
      </p:sp>
      <p:pic>
        <p:nvPicPr>
          <p:cNvPr id="9" name="User CAD image 02" descr="02_complete_front_lcd_side.png"/>
          <p:cNvPicPr>
            <a:picLocks noChangeAspect="1"/>
          </p:cNvPicPr>
          <p:nvPr/>
        </p:nvPicPr>
        <p:blipFill>
          <a:blip r:embed="rId2"/>
          <a:srcRect l="30714" t="4727" r="7786" b="4818"/>
          <a:stretch>
            <a:fillRect/>
          </a:stretch>
        </p:blipFill>
        <p:spPr>
          <a:xfrm>
            <a:off x="1564703" y="1938528"/>
            <a:ext cx="3362832" cy="3886200"/>
          </a:xfrm>
          <a:prstGeom prst="rect">
            <a:avLst/>
          </a:prstGeom>
          <a:effectLst/>
        </p:spPr>
      </p:pic>
      <p:sp>
        <p:nvSpPr>
          <p:cNvPr id="10" name="TextBox 9"/>
          <p:cNvSpPr txBox="1"/>
          <p:nvPr/>
        </p:nvSpPr>
        <p:spPr>
          <a:xfrm>
            <a:off x="594360" y="5907024"/>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Front view • control enclosure and lower access cover</a:t>
            </a:r>
          </a:p>
        </p:txBody>
      </p:sp>
      <p:pic>
        <p:nvPicPr>
          <p:cNvPr id="11" name="User CAD image 05" descr="05_complete_top_lid.png"/>
          <p:cNvPicPr>
            <a:picLocks noChangeAspect="1"/>
          </p:cNvPicPr>
          <p:nvPr/>
        </p:nvPicPr>
        <p:blipFill>
          <a:blip r:embed="rId3"/>
          <a:srcRect l="32786" t="4727" r="9857" b="4818"/>
          <a:stretch>
            <a:fillRect/>
          </a:stretch>
        </p:blipFill>
        <p:spPr>
          <a:xfrm>
            <a:off x="7392969" y="1938528"/>
            <a:ext cx="3136300" cy="3886200"/>
          </a:xfrm>
          <a:prstGeom prst="rect">
            <a:avLst/>
          </a:prstGeom>
          <a:effectLst/>
        </p:spPr>
      </p:pic>
      <p:sp>
        <p:nvSpPr>
          <p:cNvPr id="12" name="TextBox 11"/>
          <p:cNvSpPr txBox="1"/>
          <p:nvPr/>
        </p:nvSpPr>
        <p:spPr>
          <a:xfrm>
            <a:off x="6355080" y="5907024"/>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Top view • main lid and central access hatch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08 / CAD DESIGN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External side views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Both sides show enclosure projection, side penetrations and maintenance access.</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09</a:t>
            </a:r>
          </a:p>
        </p:txBody>
      </p:sp>
      <p:pic>
        <p:nvPicPr>
          <p:cNvPr id="9" name="User CAD image 03" descr="03_complete_right_sensor_side.png"/>
          <p:cNvPicPr>
            <a:picLocks noChangeAspect="1"/>
          </p:cNvPicPr>
          <p:nvPr/>
        </p:nvPicPr>
        <p:blipFill>
          <a:blip r:embed="rId2"/>
          <a:srcRect l="23286" t="4727" r="357" b="4818"/>
          <a:stretch>
            <a:fillRect/>
          </a:stretch>
        </p:blipFill>
        <p:spPr>
          <a:xfrm>
            <a:off x="1183068" y="1965960"/>
            <a:ext cx="4126103" cy="3840480"/>
          </a:xfrm>
          <a:prstGeom prst="rect">
            <a:avLst/>
          </a:prstGeom>
          <a:effectLst/>
        </p:spPr>
      </p:pic>
      <p:sp>
        <p:nvSpPr>
          <p:cNvPr id="10" name="TextBox 9"/>
          <p:cNvSpPr txBox="1"/>
          <p:nvPr/>
        </p:nvSpPr>
        <p:spPr>
          <a:xfrm>
            <a:off x="594360" y="5888736"/>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Right-side CAD view</a:t>
            </a:r>
          </a:p>
        </p:txBody>
      </p:sp>
      <p:pic>
        <p:nvPicPr>
          <p:cNvPr id="11" name="User CAD image 04" descr="04_complete_left_vent_drain_side.png"/>
          <p:cNvPicPr>
            <a:picLocks noChangeAspect="1"/>
          </p:cNvPicPr>
          <p:nvPr/>
        </p:nvPicPr>
        <p:blipFill>
          <a:blip r:embed="rId3"/>
          <a:srcRect l="23286" t="4727" r="357" b="4818"/>
          <a:stretch>
            <a:fillRect/>
          </a:stretch>
        </p:blipFill>
        <p:spPr>
          <a:xfrm>
            <a:off x="6898068" y="1965960"/>
            <a:ext cx="4126103" cy="3840480"/>
          </a:xfrm>
          <a:prstGeom prst="rect">
            <a:avLst/>
          </a:prstGeom>
          <a:effectLst/>
        </p:spPr>
      </p:pic>
      <p:sp>
        <p:nvSpPr>
          <p:cNvPr id="12" name="TextBox 11"/>
          <p:cNvSpPr txBox="1"/>
          <p:nvPr/>
        </p:nvSpPr>
        <p:spPr>
          <a:xfrm>
            <a:off x="6355080" y="5888736"/>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Left-side CAD 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09 / CAD DESIGN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Internal arrangement</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Transparent views expose the relationship between the mixer, partition and drive area.</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10</a:t>
            </a:r>
          </a:p>
        </p:txBody>
      </p:sp>
      <p:pic>
        <p:nvPicPr>
          <p:cNvPr id="9" name="User CAD image 06" descr="06_inside_isometric_transparent_bucket.png"/>
          <p:cNvPicPr>
            <a:picLocks noChangeAspect="1"/>
          </p:cNvPicPr>
          <p:nvPr/>
        </p:nvPicPr>
        <p:blipFill>
          <a:blip r:embed="rId2"/>
          <a:srcRect l="37000" t="10182" r="14214" b="16182"/>
          <a:stretch>
            <a:fillRect/>
          </a:stretch>
        </p:blipFill>
        <p:spPr>
          <a:xfrm>
            <a:off x="1607678" y="1938528"/>
            <a:ext cx="3276882" cy="3886200"/>
          </a:xfrm>
          <a:prstGeom prst="rect">
            <a:avLst/>
          </a:prstGeom>
          <a:effectLst/>
        </p:spPr>
      </p:pic>
      <p:sp>
        <p:nvSpPr>
          <p:cNvPr id="10" name="TextBox 9"/>
          <p:cNvSpPr txBox="1"/>
          <p:nvPr/>
        </p:nvSpPr>
        <p:spPr>
          <a:xfrm>
            <a:off x="594360" y="5907024"/>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Isometric view • mixer and electronics layout</a:t>
            </a:r>
          </a:p>
        </p:txBody>
      </p:sp>
      <p:pic>
        <p:nvPicPr>
          <p:cNvPr id="11" name="User CAD image 07" descr="07_inside_front_transparent_bucket.png"/>
          <p:cNvPicPr>
            <a:picLocks noChangeAspect="1"/>
          </p:cNvPicPr>
          <p:nvPr/>
        </p:nvPicPr>
        <p:blipFill>
          <a:blip r:embed="rId3"/>
          <a:srcRect l="28571" t="4727" r="5643" b="4818"/>
          <a:stretch>
            <a:fillRect/>
          </a:stretch>
        </p:blipFill>
        <p:spPr>
          <a:xfrm>
            <a:off x="7162531" y="1938528"/>
            <a:ext cx="3597176" cy="3886200"/>
          </a:xfrm>
          <a:prstGeom prst="rect">
            <a:avLst/>
          </a:prstGeom>
          <a:effectLst/>
        </p:spPr>
      </p:pic>
      <p:sp>
        <p:nvSpPr>
          <p:cNvPr id="12" name="TextBox 11"/>
          <p:cNvSpPr txBox="1"/>
          <p:nvPr/>
        </p:nvSpPr>
        <p:spPr>
          <a:xfrm>
            <a:off x="6355080" y="5907024"/>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Front view • upper chamber and lower motor region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10 / MECHANICAL CONSTRUCTION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Bucket body and partition</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Nominal bucket size: 10 L, as specified by the project team.</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11</a:t>
            </a:r>
          </a:p>
        </p:txBody>
      </p:sp>
      <p:pic>
        <p:nvPicPr>
          <p:cNvPr id="9" name="User CAD image 10" descr="10_part_bucket_body_with_partition.png"/>
          <p:cNvPicPr>
            <a:picLocks noChangeAspect="1"/>
          </p:cNvPicPr>
          <p:nvPr/>
        </p:nvPicPr>
        <p:blipFill>
          <a:blip r:embed="rId2"/>
          <a:srcRect l="35714" t="10455" r="16071" b="12364"/>
          <a:stretch>
            <a:fillRect/>
          </a:stretch>
        </p:blipFill>
        <p:spPr>
          <a:xfrm>
            <a:off x="1747537" y="1920240"/>
            <a:ext cx="3271484" cy="4114800"/>
          </a:xfrm>
          <a:prstGeom prst="rect">
            <a:avLst/>
          </a:prstGeom>
          <a:effectLst/>
        </p:spPr>
      </p:pic>
      <p:sp>
        <p:nvSpPr>
          <p:cNvPr id="10" name="TextBox 9"/>
          <p:cNvSpPr txBox="1"/>
          <p:nvPr/>
        </p:nvSpPr>
        <p:spPr>
          <a:xfrm>
            <a:off x="594360" y="6117336"/>
            <a:ext cx="557784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Bucket body with the internal partition shown in CAD</a:t>
            </a:r>
          </a:p>
        </p:txBody>
      </p:sp>
      <p:sp>
        <p:nvSpPr>
          <p:cNvPr id="11" name="Rectangle 10"/>
          <p:cNvSpPr/>
          <p:nvPr/>
        </p:nvSpPr>
        <p:spPr>
          <a:xfrm>
            <a:off x="6428232" y="2139696"/>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29400" y="2029968"/>
            <a:ext cx="4764024" cy="886968"/>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Upper space holds the organic material being processed.</a:t>
            </a:r>
          </a:p>
        </p:txBody>
      </p:sp>
      <p:sp>
        <p:nvSpPr>
          <p:cNvPr id="13" name="Rectangle 12"/>
          <p:cNvSpPr/>
          <p:nvPr/>
        </p:nvSpPr>
        <p:spPr>
          <a:xfrm>
            <a:off x="6428232" y="3127248"/>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629400" y="3017520"/>
            <a:ext cx="4764024" cy="886968"/>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The partition separates the compost chamber from the proposed drive region.</a:t>
            </a:r>
          </a:p>
        </p:txBody>
      </p:sp>
      <p:sp>
        <p:nvSpPr>
          <p:cNvPr id="15" name="Rectangle 14"/>
          <p:cNvSpPr/>
          <p:nvPr/>
        </p:nvSpPr>
        <p:spPr>
          <a:xfrm>
            <a:off x="6428232" y="4114800"/>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29400" y="4005072"/>
            <a:ext cx="4764024" cy="886968"/>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Side features accommodate the illustrated interfaces and enclosure mounting.</a:t>
            </a:r>
          </a:p>
        </p:txBody>
      </p:sp>
      <p:sp>
        <p:nvSpPr>
          <p:cNvPr id="17" name="Rectangle 16"/>
          <p:cNvSpPr/>
          <p:nvPr/>
        </p:nvSpPr>
        <p:spPr>
          <a:xfrm>
            <a:off x="6428232" y="5102352"/>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29400" y="4992624"/>
            <a:ext cx="4764024" cy="886968"/>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Usable compost volume is less than nominal bucket capacity.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11 / MECHANICAL CONSTRUCTION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Removable lid and access hatch</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top closure supports loading, inspection and cleaning of the chamber.</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12</a:t>
            </a:r>
          </a:p>
        </p:txBody>
      </p:sp>
      <p:pic>
        <p:nvPicPr>
          <p:cNvPr id="9" name="User CAD image 11" descr="11_part_removable_lid_and_hatch.png"/>
          <p:cNvPicPr>
            <a:picLocks noChangeAspect="1"/>
          </p:cNvPicPr>
          <p:nvPr/>
        </p:nvPicPr>
        <p:blipFill>
          <a:blip r:embed="rId2"/>
          <a:srcRect l="28643" t="25909" r="5786" b="21727"/>
          <a:stretch>
            <a:fillRect/>
          </a:stretch>
        </p:blipFill>
        <p:spPr>
          <a:xfrm>
            <a:off x="998696" y="2057400"/>
            <a:ext cx="5683567" cy="3566160"/>
          </a:xfrm>
          <a:prstGeom prst="rect">
            <a:avLst/>
          </a:prstGeom>
          <a:effectLst/>
        </p:spPr>
      </p:pic>
      <p:sp>
        <p:nvSpPr>
          <p:cNvPr id="10" name="TextBox 9"/>
          <p:cNvSpPr txBox="1"/>
          <p:nvPr/>
        </p:nvSpPr>
        <p:spPr>
          <a:xfrm>
            <a:off x="594360" y="5705856"/>
            <a:ext cx="649224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CAD detail • lid and central handled hatch</a:t>
            </a:r>
          </a:p>
        </p:txBody>
      </p:sp>
      <p:sp>
        <p:nvSpPr>
          <p:cNvPr id="11" name="Rectangle 10"/>
          <p:cNvSpPr/>
          <p:nvPr/>
        </p:nvSpPr>
        <p:spPr>
          <a:xfrm>
            <a:off x="7360920" y="2395728"/>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562088" y="2286000"/>
            <a:ext cx="3959352" cy="905256"/>
          </a:xfrm>
          <a:prstGeom prst="rect">
            <a:avLst/>
          </a:prstGeom>
          <a:noFill/>
          <a:effectLst/>
        </p:spPr>
        <p:txBody>
          <a:bodyPr wrap="square" lIns="0" rIns="0" tIns="0" bIns="0" anchor="t">
            <a:spAutoFit/>
          </a:bodyPr>
          <a:lstStyle/>
          <a:p>
            <a:pPr algn="l">
              <a:lnSpc>
                <a:spcPct val="106000"/>
              </a:lnSpc>
              <a:spcAft>
                <a:spcPts val="600"/>
              </a:spcAft>
              <a:defRPr sz="2100" b="0">
                <a:solidFill>
                  <a:srgbClr val="253B33"/>
                </a:solidFill>
                <a:latin typeface="Aptos"/>
              </a:defRPr>
            </a:pPr>
            <a:r>
              <a:t>Removable main lid provides access to the vessel.</a:t>
            </a:r>
          </a:p>
        </p:txBody>
      </p:sp>
      <p:sp>
        <p:nvSpPr>
          <p:cNvPr id="13" name="Rectangle 12"/>
          <p:cNvSpPr/>
          <p:nvPr/>
        </p:nvSpPr>
        <p:spPr>
          <a:xfrm>
            <a:off x="7360920" y="3401568"/>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562088" y="3291840"/>
            <a:ext cx="3959352" cy="905256"/>
          </a:xfrm>
          <a:prstGeom prst="rect">
            <a:avLst/>
          </a:prstGeom>
          <a:noFill/>
          <a:effectLst/>
        </p:spPr>
        <p:txBody>
          <a:bodyPr wrap="square" lIns="0" rIns="0" tIns="0" bIns="0" anchor="t">
            <a:spAutoFit/>
          </a:bodyPr>
          <a:lstStyle/>
          <a:p>
            <a:pPr algn="l">
              <a:lnSpc>
                <a:spcPct val="106000"/>
              </a:lnSpc>
              <a:spcAft>
                <a:spcPts val="600"/>
              </a:spcAft>
              <a:defRPr sz="2100" b="0">
                <a:solidFill>
                  <a:srgbClr val="253B33"/>
                </a:solidFill>
                <a:latin typeface="Aptos"/>
              </a:defRPr>
            </a:pPr>
            <a:r>
              <a:t>A handled central hatch is visible in the supplied design.</a:t>
            </a:r>
          </a:p>
        </p:txBody>
      </p:sp>
      <p:sp>
        <p:nvSpPr>
          <p:cNvPr id="15" name="Rectangle 14"/>
          <p:cNvSpPr/>
          <p:nvPr/>
        </p:nvSpPr>
        <p:spPr>
          <a:xfrm>
            <a:off x="7360920" y="4407408"/>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562088" y="4297680"/>
            <a:ext cx="3959352" cy="905256"/>
          </a:xfrm>
          <a:prstGeom prst="rect">
            <a:avLst/>
          </a:prstGeom>
          <a:noFill/>
          <a:effectLst/>
        </p:spPr>
        <p:txBody>
          <a:bodyPr wrap="square" lIns="0" rIns="0" tIns="0" bIns="0" anchor="t">
            <a:spAutoFit/>
          </a:bodyPr>
          <a:lstStyle/>
          <a:p>
            <a:pPr algn="l">
              <a:lnSpc>
                <a:spcPct val="106000"/>
              </a:lnSpc>
              <a:spcAft>
                <a:spcPts val="600"/>
              </a:spcAft>
              <a:defRPr sz="2100" b="0">
                <a:solidFill>
                  <a:srgbClr val="253B33"/>
                </a:solidFill>
                <a:latin typeface="Aptos"/>
              </a:defRPr>
            </a:pPr>
            <a:r>
              <a:t>Keep hands clear and disconnect power before opening or servicing.</a:t>
            </a:r>
          </a:p>
        </p:txBody>
      </p:sp>
      <p:sp>
        <p:nvSpPr>
          <p:cNvPr id="17" name="Rounded Rectangle 16"/>
          <p:cNvSpPr/>
          <p:nvPr/>
        </p:nvSpPr>
        <p:spPr>
          <a:xfrm>
            <a:off x="521207" y="5870448"/>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58368" y="5952744"/>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A76A21"/>
                </a:solidFill>
                <a:latin typeface="Aptos"/>
              </a:defRPr>
            </a:pPr>
            <a:r>
              <a:t>A lid interlock is a recommended improvement; it was not listed among the installed components.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12 / MECHANICAL CONSTRUCTION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Motor, mounting and drive space</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775 DC motor is intended to rotate the internal mixing assembly.</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13</a:t>
            </a:r>
          </a:p>
        </p:txBody>
      </p:sp>
      <p:pic>
        <p:nvPicPr>
          <p:cNvPr id="9" name="User CAD image 12" descr="12_part_775_motor_mount_and_reducer_space.png"/>
          <p:cNvPicPr>
            <a:picLocks noChangeAspect="1"/>
          </p:cNvPicPr>
          <p:nvPr/>
        </p:nvPicPr>
        <p:blipFill>
          <a:blip r:embed="rId2"/>
          <a:srcRect l="35714" t="11273" r="12786" b="7545"/>
          <a:stretch>
            <a:fillRect/>
          </a:stretch>
        </p:blipFill>
        <p:spPr>
          <a:xfrm>
            <a:off x="1725266" y="1965960"/>
            <a:ext cx="3041706" cy="3767328"/>
          </a:xfrm>
          <a:prstGeom prst="rect">
            <a:avLst/>
          </a:prstGeom>
          <a:effectLst/>
        </p:spPr>
      </p:pic>
      <p:sp>
        <p:nvSpPr>
          <p:cNvPr id="10" name="TextBox 9"/>
          <p:cNvSpPr txBox="1"/>
          <p:nvPr/>
        </p:nvSpPr>
        <p:spPr>
          <a:xfrm>
            <a:off x="594360" y="5815583"/>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Motor/mount CAD detail • simplified envelope geometry</a:t>
            </a:r>
          </a:p>
        </p:txBody>
      </p:sp>
      <p:pic>
        <p:nvPicPr>
          <p:cNvPr id="11" name="User CAD image 09" descr="09_motor_bay_and_mixer_drive.png"/>
          <p:cNvPicPr>
            <a:picLocks noChangeAspect="1"/>
          </p:cNvPicPr>
          <p:nvPr/>
        </p:nvPicPr>
        <p:blipFill>
          <a:blip r:embed="rId3"/>
          <a:srcRect l="35714" t="10455" r="16071" b="12364"/>
          <a:stretch>
            <a:fillRect/>
          </a:stretch>
        </p:blipFill>
        <p:spPr>
          <a:xfrm>
            <a:off x="7463507" y="1965960"/>
            <a:ext cx="2995225" cy="3767328"/>
          </a:xfrm>
          <a:prstGeom prst="rect">
            <a:avLst/>
          </a:prstGeom>
          <a:effectLst/>
        </p:spPr>
      </p:pic>
      <p:sp>
        <p:nvSpPr>
          <p:cNvPr id="12" name="TextBox 11"/>
          <p:cNvSpPr txBox="1"/>
          <p:nvPr/>
        </p:nvSpPr>
        <p:spPr>
          <a:xfrm>
            <a:off x="6355080" y="5815583"/>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Drive area positioned below the partition</a:t>
            </a:r>
          </a:p>
        </p:txBody>
      </p:sp>
      <p:sp>
        <p:nvSpPr>
          <p:cNvPr id="13" name="Rounded Rectangle 12"/>
          <p:cNvSpPr/>
          <p:nvPr/>
        </p:nvSpPr>
        <p:spPr>
          <a:xfrm>
            <a:off x="521207" y="5952744"/>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8368" y="6035040"/>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A76A21"/>
                </a:solidFill>
                <a:latin typeface="Aptos"/>
              </a:defRPr>
            </a:pPr>
            <a:r>
              <a:t>Required speed, torque, reduction ratio and start/stall current remain to be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13 / MECHANICAL CONSTRUCTION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Mixer shaft and paddles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illustrated mechanism distributes mixing action across two heights.</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14</a:t>
            </a:r>
          </a:p>
        </p:txBody>
      </p:sp>
      <p:pic>
        <p:nvPicPr>
          <p:cNvPr id="9" name="User CAD image 13" descr="13_part_mixer_shaft_paddles_seal_cassette.png"/>
          <p:cNvPicPr>
            <a:picLocks noChangeAspect="1"/>
          </p:cNvPicPr>
          <p:nvPr/>
        </p:nvPicPr>
        <p:blipFill>
          <a:blip r:embed="rId2"/>
          <a:srcRect l="42214" t="20000" r="19286" b="26091"/>
          <a:stretch>
            <a:fillRect/>
          </a:stretch>
        </p:blipFill>
        <p:spPr>
          <a:xfrm>
            <a:off x="1509052" y="1965960"/>
            <a:ext cx="3474134" cy="3822191"/>
          </a:xfrm>
          <a:prstGeom prst="rect">
            <a:avLst/>
          </a:prstGeom>
          <a:effectLst/>
        </p:spPr>
      </p:pic>
      <p:sp>
        <p:nvSpPr>
          <p:cNvPr id="10" name="TextBox 9"/>
          <p:cNvSpPr txBox="1"/>
          <p:nvPr/>
        </p:nvSpPr>
        <p:spPr>
          <a:xfrm>
            <a:off x="594360" y="5870448"/>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Shaft-and-paddle assembly with a lower coupling/seal detail</a:t>
            </a:r>
          </a:p>
        </p:txBody>
      </p:sp>
      <p:pic>
        <p:nvPicPr>
          <p:cNvPr id="11" name="User CAD image 08" descr="08_inside_right_transparent_bucket.png"/>
          <p:cNvPicPr>
            <a:picLocks noChangeAspect="1"/>
          </p:cNvPicPr>
          <p:nvPr/>
        </p:nvPicPr>
        <p:blipFill>
          <a:blip r:embed="rId3"/>
          <a:srcRect l="21000" t="4727" b="4818"/>
          <a:stretch>
            <a:fillRect/>
          </a:stretch>
        </p:blipFill>
        <p:spPr>
          <a:xfrm>
            <a:off x="6836826" y="1965960"/>
            <a:ext cx="4248587" cy="3822191"/>
          </a:xfrm>
          <a:prstGeom prst="rect">
            <a:avLst/>
          </a:prstGeom>
          <a:effectLst/>
        </p:spPr>
      </p:pic>
      <p:sp>
        <p:nvSpPr>
          <p:cNvPr id="12" name="TextBox 11"/>
          <p:cNvSpPr txBox="1"/>
          <p:nvPr/>
        </p:nvSpPr>
        <p:spPr>
          <a:xfrm>
            <a:off x="6355080" y="5870448"/>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Transparent side view • vertical drive alignment</a:t>
            </a:r>
          </a:p>
        </p:txBody>
      </p:sp>
      <p:sp>
        <p:nvSpPr>
          <p:cNvPr id="13" name="Rounded Rectangle 12"/>
          <p:cNvSpPr/>
          <p:nvPr/>
        </p:nvSpPr>
        <p:spPr>
          <a:xfrm>
            <a:off x="521207" y="5952744"/>
            <a:ext cx="11109960" cy="420624"/>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8368" y="6035040"/>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123D32"/>
                </a:solidFill>
                <a:latin typeface="Aptos"/>
              </a:defRPr>
            </a:pPr>
            <a:r>
              <a:t>Check paddle clearance, shaft support, attachment strength and leakage before loaded operation.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14 / SENSING LAYOUT</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Sensors and service access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Sensor-like geometry and the removable lower cover are shown as simplified CAD features.</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15</a:t>
            </a:r>
          </a:p>
        </p:txBody>
      </p:sp>
      <p:pic>
        <p:nvPicPr>
          <p:cNvPr id="9" name="User CAD image 14" descr="14_part_motor_access_cover_and_sensors.png"/>
          <p:cNvPicPr>
            <a:picLocks noChangeAspect="1"/>
          </p:cNvPicPr>
          <p:nvPr/>
        </p:nvPicPr>
        <p:blipFill>
          <a:blip r:embed="rId2"/>
          <a:srcRect l="42500" t="18364" r="18857" b="7455"/>
          <a:stretch>
            <a:fillRect/>
          </a:stretch>
        </p:blipFill>
        <p:spPr>
          <a:xfrm>
            <a:off x="1956726" y="1938528"/>
            <a:ext cx="2715947" cy="4096512"/>
          </a:xfrm>
          <a:prstGeom prst="rect">
            <a:avLst/>
          </a:prstGeom>
          <a:effectLst/>
        </p:spPr>
      </p:pic>
      <p:sp>
        <p:nvSpPr>
          <p:cNvPr id="10" name="TextBox 9"/>
          <p:cNvSpPr txBox="1"/>
          <p:nvPr/>
        </p:nvSpPr>
        <p:spPr>
          <a:xfrm>
            <a:off x="594360" y="6117336"/>
            <a:ext cx="54406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Access cover and simplified sensor representations</a:t>
            </a:r>
          </a:p>
        </p:txBody>
      </p:sp>
      <p:sp>
        <p:nvSpPr>
          <p:cNvPr id="11" name="Rectangle 10"/>
          <p:cNvSpPr/>
          <p:nvPr/>
        </p:nvSpPr>
        <p:spPr>
          <a:xfrm>
            <a:off x="6428232" y="2157984"/>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629400" y="2048256"/>
            <a:ext cx="4764024" cy="859536"/>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DHT11: measures local air temperature and relative humidity.</a:t>
            </a:r>
          </a:p>
        </p:txBody>
      </p:sp>
      <p:sp>
        <p:nvSpPr>
          <p:cNvPr id="13" name="Rectangle 12"/>
          <p:cNvSpPr/>
          <p:nvPr/>
        </p:nvSpPr>
        <p:spPr>
          <a:xfrm>
            <a:off x="6428232" y="3118104"/>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629400" y="3008376"/>
            <a:ext cx="4764024" cy="859536"/>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Soil moisture sensor: indicates relative wetness after calibration.</a:t>
            </a:r>
          </a:p>
        </p:txBody>
      </p:sp>
      <p:sp>
        <p:nvSpPr>
          <p:cNvPr id="15" name="Rectangle 14"/>
          <p:cNvSpPr/>
          <p:nvPr/>
        </p:nvSpPr>
        <p:spPr>
          <a:xfrm>
            <a:off x="6428232" y="4078224"/>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629400" y="3968496"/>
            <a:ext cx="4764024" cy="859536"/>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Protect electronics from wet waste, condensation and moving paddles.</a:t>
            </a:r>
          </a:p>
        </p:txBody>
      </p:sp>
      <p:sp>
        <p:nvSpPr>
          <p:cNvPr id="17" name="Rectangle 16"/>
          <p:cNvSpPr/>
          <p:nvPr/>
        </p:nvSpPr>
        <p:spPr>
          <a:xfrm>
            <a:off x="6428232" y="5038344"/>
            <a:ext cx="59436" cy="59436"/>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29400" y="4928616"/>
            <a:ext cx="4764024" cy="859536"/>
          </a:xfrm>
          <a:prstGeom prst="rect">
            <a:avLst/>
          </a:prstGeom>
          <a:noFill/>
          <a:effectLst/>
        </p:spPr>
        <p:txBody>
          <a:bodyPr wrap="square" lIns="0" rIns="0" tIns="0" bIns="0" anchor="t">
            <a:spAutoFit/>
          </a:bodyPr>
          <a:lstStyle/>
          <a:p>
            <a:pPr algn="l">
              <a:lnSpc>
                <a:spcPct val="106000"/>
              </a:lnSpc>
              <a:spcAft>
                <a:spcPts val="600"/>
              </a:spcAft>
              <a:defRPr sz="2000" b="0">
                <a:solidFill>
                  <a:srgbClr val="253B33"/>
                </a:solidFill>
                <a:latin typeface="Aptos"/>
              </a:defRPr>
            </a:pPr>
            <a:r>
              <a:t>Remove power before opening the lower service cover.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15 / ELECTRONICS PACKAGING</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Electronics enclosure</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enclosure organizes the control electronics outside the composting chamber.</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16</a:t>
            </a:r>
          </a:p>
        </p:txBody>
      </p:sp>
      <p:pic>
        <p:nvPicPr>
          <p:cNvPr id="9" name="User CAD image 15" descr="15_part_electronics_cabinet_and_front_panel.png"/>
          <p:cNvPicPr>
            <a:picLocks noChangeAspect="1"/>
          </p:cNvPicPr>
          <p:nvPr/>
        </p:nvPicPr>
        <p:blipFill>
          <a:blip r:embed="rId2"/>
          <a:srcRect l="36857" t="4727" r="13929" b="4818"/>
          <a:stretch>
            <a:fillRect/>
          </a:stretch>
        </p:blipFill>
        <p:spPr>
          <a:xfrm>
            <a:off x="1900596" y="1938528"/>
            <a:ext cx="2691047" cy="3886200"/>
          </a:xfrm>
          <a:prstGeom prst="rect">
            <a:avLst/>
          </a:prstGeom>
          <a:effectLst/>
        </p:spPr>
      </p:pic>
      <p:sp>
        <p:nvSpPr>
          <p:cNvPr id="10" name="TextBox 9"/>
          <p:cNvSpPr txBox="1"/>
          <p:nvPr/>
        </p:nvSpPr>
        <p:spPr>
          <a:xfrm>
            <a:off x="594360" y="5907024"/>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Closed enclosure • front-panel display opening</a:t>
            </a:r>
          </a:p>
        </p:txBody>
      </p:sp>
      <p:pic>
        <p:nvPicPr>
          <p:cNvPr id="11" name="User CAD image 18" descr="18_cabinet_open_isometric.png"/>
          <p:cNvPicPr>
            <a:picLocks noChangeAspect="1"/>
          </p:cNvPicPr>
          <p:nvPr/>
        </p:nvPicPr>
        <p:blipFill>
          <a:blip r:embed="rId3"/>
          <a:srcRect l="37214" t="4727" r="14143" b="4909"/>
          <a:stretch>
            <a:fillRect/>
          </a:stretch>
        </p:blipFill>
        <p:spPr>
          <a:xfrm>
            <a:off x="7629881" y="1938528"/>
            <a:ext cx="2662477" cy="3886200"/>
          </a:xfrm>
          <a:prstGeom prst="rect">
            <a:avLst/>
          </a:prstGeom>
          <a:effectLst/>
        </p:spPr>
      </p:pic>
      <p:sp>
        <p:nvSpPr>
          <p:cNvPr id="12" name="TextBox 11"/>
          <p:cNvSpPr txBox="1"/>
          <p:nvPr/>
        </p:nvSpPr>
        <p:spPr>
          <a:xfrm>
            <a:off x="6355080" y="5907024"/>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Open enclosure • illustrated electronics arrangement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16 / ELECTRONICS PACKAGING</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Controller and display layout</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Simplified CAD boards show placement rather than a verified circuit or PCB design.</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17</a:t>
            </a:r>
          </a:p>
        </p:txBody>
      </p:sp>
      <p:pic>
        <p:nvPicPr>
          <p:cNvPr id="9" name="User CAD image 16" descr="16_part_arduino_uno_lcd_driver_boards.png"/>
          <p:cNvPicPr>
            <a:picLocks noChangeAspect="1"/>
          </p:cNvPicPr>
          <p:nvPr/>
        </p:nvPicPr>
        <p:blipFill>
          <a:blip r:embed="rId2"/>
          <a:srcRect l="40143" t="9545" r="17000" b="16909"/>
          <a:stretch>
            <a:fillRect/>
          </a:stretch>
        </p:blipFill>
        <p:spPr>
          <a:xfrm>
            <a:off x="1845697" y="1938528"/>
            <a:ext cx="2800844" cy="3776472"/>
          </a:xfrm>
          <a:prstGeom prst="rect">
            <a:avLst/>
          </a:prstGeom>
          <a:effectLst/>
        </p:spPr>
      </p:pic>
      <p:sp>
        <p:nvSpPr>
          <p:cNvPr id="10" name="TextBox 9"/>
          <p:cNvSpPr txBox="1"/>
          <p:nvPr/>
        </p:nvSpPr>
        <p:spPr>
          <a:xfrm>
            <a:off x="594360" y="5797296"/>
            <a:ext cx="530352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Board/display subassembly • simplified CAD geometry</a:t>
            </a:r>
          </a:p>
        </p:txBody>
      </p:sp>
      <p:pic>
        <p:nvPicPr>
          <p:cNvPr id="11" name="User CAD image 17" descr="17_cabinet_open_front_view.png"/>
          <p:cNvPicPr>
            <a:picLocks noChangeAspect="1"/>
          </p:cNvPicPr>
          <p:nvPr/>
        </p:nvPicPr>
        <p:blipFill>
          <a:blip r:embed="rId3"/>
          <a:srcRect l="32857" t="4727" r="9929" b="4818"/>
          <a:stretch>
            <a:fillRect/>
          </a:stretch>
        </p:blipFill>
        <p:spPr>
          <a:xfrm>
            <a:off x="7441042" y="1938528"/>
            <a:ext cx="3040154" cy="3776472"/>
          </a:xfrm>
          <a:prstGeom prst="rect">
            <a:avLst/>
          </a:prstGeom>
          <a:effectLst/>
        </p:spPr>
      </p:pic>
      <p:sp>
        <p:nvSpPr>
          <p:cNvPr id="12" name="TextBox 11"/>
          <p:cNvSpPr txBox="1"/>
          <p:nvPr/>
        </p:nvSpPr>
        <p:spPr>
          <a:xfrm>
            <a:off x="6355080" y="5797296"/>
            <a:ext cx="5212080" cy="438912"/>
          </a:xfrm>
          <a:prstGeom prst="rect">
            <a:avLst/>
          </a:prstGeom>
          <a:noFill/>
          <a:effectLst/>
        </p:spPr>
        <p:txBody>
          <a:bodyPr wrap="square" lIns="0" rIns="0" tIns="0" bIns="0" anchor="t">
            <a:spAutoFit/>
          </a:bodyPr>
          <a:lstStyle/>
          <a:p>
            <a:pPr algn="ctr">
              <a:lnSpc>
                <a:spcPct val="106000"/>
              </a:lnSpc>
              <a:spcAft>
                <a:spcPts val="600"/>
              </a:spcAft>
              <a:defRPr sz="1200" b="0">
                <a:solidFill>
                  <a:srgbClr val="64746A"/>
                </a:solidFill>
                <a:latin typeface="Aptos"/>
              </a:defRPr>
            </a:pPr>
            <a:r>
              <a:t>Front view of the electronics inside the enclosure</a:t>
            </a:r>
          </a:p>
        </p:txBody>
      </p:sp>
      <p:sp>
        <p:nvSpPr>
          <p:cNvPr id="13" name="Rounded Rectangle 12"/>
          <p:cNvSpPr/>
          <p:nvPr/>
        </p:nvSpPr>
        <p:spPr>
          <a:xfrm>
            <a:off x="521207" y="5952744"/>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58368" y="6035040"/>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A76A21"/>
                </a:solidFill>
                <a:latin typeface="Aptos"/>
              </a:defRPr>
            </a:pPr>
            <a:r>
              <a:t>LCD display: visible in CAD, but not confirmed in the team’s supplied hardware list.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17 / TECHNICAL LIMITS</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What the sensors can—and cannot—tell us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Measurements need calibration, correct placement and interpretation.</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18</a:t>
            </a:r>
          </a:p>
        </p:txBody>
      </p:sp>
      <p:sp>
        <p:nvSpPr>
          <p:cNvPr id="9" name="Rounded Rectangle 8"/>
          <p:cNvSpPr/>
          <p:nvPr/>
        </p:nvSpPr>
        <p:spPr>
          <a:xfrm>
            <a:off x="548640" y="2039112"/>
            <a:ext cx="3566160" cy="3529584"/>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58952" y="2249424"/>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01</a:t>
            </a:r>
          </a:p>
        </p:txBody>
      </p:sp>
      <p:sp>
        <p:nvSpPr>
          <p:cNvPr id="11" name="TextBox 10"/>
          <p:cNvSpPr txBox="1"/>
          <p:nvPr/>
        </p:nvSpPr>
        <p:spPr>
          <a:xfrm>
            <a:off x="758952" y="2724912"/>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DHT11</a:t>
            </a:r>
          </a:p>
        </p:txBody>
      </p:sp>
      <p:sp>
        <p:nvSpPr>
          <p:cNvPr id="12" name="TextBox 11"/>
          <p:cNvSpPr txBox="1"/>
          <p:nvPr/>
        </p:nvSpPr>
        <p:spPr>
          <a:xfrm>
            <a:off x="758952" y="3456432"/>
            <a:ext cx="3145536" cy="1929384"/>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Typical range: 0–50 °C and 20–80% RH.</a:t>
            </a:r>
          </a:p>
          <a:p>
            <a:pPr algn="l">
              <a:lnSpc>
                <a:spcPct val="106000"/>
              </a:lnSpc>
              <a:spcAft>
                <a:spcPts val="600"/>
              </a:spcAft>
              <a:defRPr sz="1800" b="0">
                <a:solidFill>
                  <a:srgbClr val="253B33"/>
                </a:solidFill>
                <a:latin typeface="Aptos"/>
              </a:defRPr>
            </a:pPr>
          </a:p>
          <a:p>
            <a:pPr algn="l">
              <a:lnSpc>
                <a:spcPct val="106000"/>
              </a:lnSpc>
              <a:spcAft>
                <a:spcPts val="600"/>
              </a:spcAft>
              <a:defRPr sz="1800" b="0">
                <a:solidFill>
                  <a:srgbClr val="253B33"/>
                </a:solidFill>
                <a:latin typeface="Aptos"/>
              </a:defRPr>
            </a:pPr>
            <a:r>
              <a:t>Keep dry and protected. It is not a waterproof compost-core probe.</a:t>
            </a:r>
          </a:p>
        </p:txBody>
      </p:sp>
      <p:sp>
        <p:nvSpPr>
          <p:cNvPr id="13" name="Rounded Rectangle 12"/>
          <p:cNvSpPr/>
          <p:nvPr/>
        </p:nvSpPr>
        <p:spPr>
          <a:xfrm>
            <a:off x="4315968" y="2039112"/>
            <a:ext cx="3566160" cy="3529584"/>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526280" y="2249424"/>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02</a:t>
            </a:r>
          </a:p>
        </p:txBody>
      </p:sp>
      <p:sp>
        <p:nvSpPr>
          <p:cNvPr id="15" name="TextBox 14"/>
          <p:cNvSpPr txBox="1"/>
          <p:nvPr/>
        </p:nvSpPr>
        <p:spPr>
          <a:xfrm>
            <a:off x="4526280" y="2724912"/>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Soil moisture</a:t>
            </a:r>
          </a:p>
        </p:txBody>
      </p:sp>
      <p:sp>
        <p:nvSpPr>
          <p:cNvPr id="16" name="TextBox 15"/>
          <p:cNvSpPr txBox="1"/>
          <p:nvPr/>
        </p:nvSpPr>
        <p:spPr>
          <a:xfrm>
            <a:off x="4526280" y="3456432"/>
            <a:ext cx="3145536" cy="1929384"/>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Relative wetness only.</a:t>
            </a:r>
          </a:p>
          <a:p>
            <a:pPr>
              <a:lnSpc>
                <a:spcPct val="106000"/>
              </a:lnSpc>
              <a:spcAft>
                <a:spcPts val="600"/>
              </a:spcAft>
              <a:defRPr sz="1800">
                <a:solidFill>
                  <a:srgbClr val="253B33"/>
                </a:solidFill>
                <a:latin typeface="Aptos"/>
              </a:defRPr>
            </a:pPr>
          </a:p>
          <a:p>
            <a:pPr>
              <a:lnSpc>
                <a:spcPct val="106000"/>
              </a:lnSpc>
              <a:spcAft>
                <a:spcPts val="600"/>
              </a:spcAft>
              <a:defRPr sz="1800">
                <a:solidFill>
                  <a:srgbClr val="253B33"/>
                </a:solidFill>
                <a:latin typeface="Aptos"/>
              </a:defRPr>
            </a:pPr>
            <a:r>
              <a:t>Calibrate with the actual material; raw readings are not exact water content.</a:t>
            </a:r>
          </a:p>
        </p:txBody>
      </p:sp>
      <p:sp>
        <p:nvSpPr>
          <p:cNvPr id="17" name="Rounded Rectangle 16"/>
          <p:cNvSpPr/>
          <p:nvPr/>
        </p:nvSpPr>
        <p:spPr>
          <a:xfrm>
            <a:off x="8083296" y="2039112"/>
            <a:ext cx="3566160" cy="3529584"/>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93608" y="2249424"/>
            <a:ext cx="731520" cy="384048"/>
          </a:xfrm>
          <a:prstGeom prst="rect">
            <a:avLst/>
          </a:prstGeom>
          <a:noFill/>
          <a:effectLst/>
        </p:spPr>
        <p:txBody>
          <a:bodyPr wrap="square" lIns="0" rIns="0" tIns="0" bIns="0" anchor="t">
            <a:spAutoFit/>
          </a:bodyPr>
          <a:lstStyle/>
          <a:p>
            <a:pPr algn="l">
              <a:lnSpc>
                <a:spcPct val="106000"/>
              </a:lnSpc>
              <a:spcAft>
                <a:spcPts val="600"/>
              </a:spcAft>
              <a:defRPr sz="2100" b="1">
                <a:solidFill>
                  <a:srgbClr val="247A52"/>
                </a:solidFill>
                <a:latin typeface="Aptos"/>
              </a:defRPr>
            </a:pPr>
            <a:r>
              <a:t>03</a:t>
            </a:r>
          </a:p>
        </p:txBody>
      </p:sp>
      <p:sp>
        <p:nvSpPr>
          <p:cNvPr id="19" name="TextBox 18"/>
          <p:cNvSpPr txBox="1"/>
          <p:nvPr/>
        </p:nvSpPr>
        <p:spPr>
          <a:xfrm>
            <a:off x="8293608" y="2724912"/>
            <a:ext cx="3145536" cy="621792"/>
          </a:xfrm>
          <a:prstGeom prst="rect">
            <a:avLst/>
          </a:prstGeom>
          <a:noFill/>
          <a:effectLst/>
        </p:spPr>
        <p:txBody>
          <a:bodyPr wrap="square" lIns="0" rIns="0" tIns="0" bIns="0" anchor="t">
            <a:spAutoFit/>
          </a:bodyPr>
          <a:lstStyle/>
          <a:p>
            <a:pPr algn="l">
              <a:lnSpc>
                <a:spcPct val="106000"/>
              </a:lnSpc>
              <a:spcAft>
                <a:spcPts val="600"/>
              </a:spcAft>
              <a:defRPr sz="2100" b="1">
                <a:solidFill>
                  <a:srgbClr val="123D32"/>
                </a:solidFill>
                <a:latin typeface="Aptos"/>
              </a:defRPr>
            </a:pPr>
            <a:r>
              <a:t>Arduino control</a:t>
            </a:r>
          </a:p>
        </p:txBody>
      </p:sp>
      <p:sp>
        <p:nvSpPr>
          <p:cNvPr id="20" name="TextBox 19"/>
          <p:cNvSpPr txBox="1"/>
          <p:nvPr/>
        </p:nvSpPr>
        <p:spPr>
          <a:xfrm>
            <a:off x="8293608" y="3456432"/>
            <a:ext cx="3145536" cy="1929384"/>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Can read sensors and command mixing.</a:t>
            </a:r>
          </a:p>
          <a:p>
            <a:pPr algn="l">
              <a:lnSpc>
                <a:spcPct val="106000"/>
              </a:lnSpc>
              <a:spcAft>
                <a:spcPts val="600"/>
              </a:spcAft>
              <a:defRPr sz="1800" b="0">
                <a:solidFill>
                  <a:srgbClr val="253B33"/>
                </a:solidFill>
                <a:latin typeface="Aptos"/>
              </a:defRPr>
            </a:pPr>
          </a:p>
          <a:p>
            <a:pPr algn="l">
              <a:lnSpc>
                <a:spcPct val="106000"/>
              </a:lnSpc>
              <a:spcAft>
                <a:spcPts val="600"/>
              </a:spcAft>
              <a:defRPr sz="1800" b="0">
                <a:solidFill>
                  <a:srgbClr val="253B33"/>
                </a:solidFill>
                <a:latin typeface="Aptos"/>
              </a:defRPr>
            </a:pPr>
            <a:r>
              <a:t>No Wi-Fi, automatic watering or automatic heating hardware was specified.</a:t>
            </a:r>
          </a:p>
        </p:txBody>
      </p:sp>
      <p:sp>
        <p:nvSpPr>
          <p:cNvPr id="21" name="Rounded Rectangle 20"/>
          <p:cNvSpPr/>
          <p:nvPr/>
        </p:nvSpPr>
        <p:spPr>
          <a:xfrm>
            <a:off x="521207" y="5916168"/>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8368" y="5998464"/>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A76A21"/>
                </a:solidFill>
                <a:latin typeface="Aptos"/>
              </a:defRPr>
            </a:pPr>
            <a:r>
              <a:t>A small 10 L unit is not guaranteed to reach thermophilic conditions or sanitize compost.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18 / BEFORE LOADED OPERATION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Power compatibility and safety</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The listed motor, driver and adapter are not yet a verified compatible power system.</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19</a:t>
            </a:r>
          </a:p>
        </p:txBody>
      </p:sp>
      <p:sp>
        <p:nvSpPr>
          <p:cNvPr id="9" name="Rounded Rectangle 8"/>
          <p:cNvSpPr/>
          <p:nvPr/>
        </p:nvSpPr>
        <p:spPr>
          <a:xfrm>
            <a:off x="566928" y="1984248"/>
            <a:ext cx="5440680" cy="1773936"/>
          </a:xfrm>
          <a:prstGeom prst="roundRect">
            <a:avLst>
              <a:gd name="adj" fmla="val 8000"/>
            </a:avLst>
          </a:prstGeom>
          <a:solidFill>
            <a:srgbClr val="FAEEDB"/>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68096" y="2148840"/>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A76A21"/>
                </a:solidFill>
                <a:latin typeface="Aptos"/>
              </a:defRPr>
            </a:pPr>
            <a:r>
              <a:t>Motor current</a:t>
            </a:r>
          </a:p>
        </p:txBody>
      </p:sp>
      <p:sp>
        <p:nvSpPr>
          <p:cNvPr id="11" name="TextBox 10"/>
          <p:cNvSpPr txBox="1"/>
          <p:nvPr/>
        </p:nvSpPr>
        <p:spPr>
          <a:xfrm>
            <a:off x="768096" y="2761488"/>
            <a:ext cx="5038344" cy="859536"/>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Check the exact 775 motor’s starting, running and stall current against the supply and driver.</a:t>
            </a:r>
          </a:p>
        </p:txBody>
      </p:sp>
      <p:sp>
        <p:nvSpPr>
          <p:cNvPr id="12" name="Rounded Rectangle 11"/>
          <p:cNvSpPr/>
          <p:nvPr/>
        </p:nvSpPr>
        <p:spPr>
          <a:xfrm>
            <a:off x="6199632" y="1984248"/>
            <a:ext cx="5440680" cy="177393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0" y="2148840"/>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L298N heating</a:t>
            </a:r>
          </a:p>
        </p:txBody>
      </p:sp>
      <p:sp>
        <p:nvSpPr>
          <p:cNvPr id="14" name="TextBox 13"/>
          <p:cNvSpPr txBox="1"/>
          <p:nvPr/>
        </p:nvSpPr>
        <p:spPr>
          <a:xfrm>
            <a:off x="6400800" y="2761488"/>
            <a:ext cx="5038344" cy="859536"/>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Allow for driver voltage drop and heat. Module current capability depends on cooling and duty.</a:t>
            </a:r>
          </a:p>
        </p:txBody>
      </p:sp>
      <p:sp>
        <p:nvSpPr>
          <p:cNvPr id="15" name="Rounded Rectangle 14"/>
          <p:cNvSpPr/>
          <p:nvPr/>
        </p:nvSpPr>
        <p:spPr>
          <a:xfrm>
            <a:off x="566928" y="3968496"/>
            <a:ext cx="5440680" cy="177393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8096" y="4133087"/>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Regulator and wiring</a:t>
            </a:r>
          </a:p>
        </p:txBody>
      </p:sp>
      <p:sp>
        <p:nvSpPr>
          <p:cNvPr id="17" name="TextBox 16"/>
          <p:cNvSpPr txBox="1"/>
          <p:nvPr/>
        </p:nvSpPr>
        <p:spPr>
          <a:xfrm>
            <a:off x="768096" y="4745736"/>
            <a:ext cx="5038344" cy="859536"/>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Verify regulated output, polarity and heat. Use load-rated motor wiring and appropriate protection.</a:t>
            </a:r>
          </a:p>
        </p:txBody>
      </p:sp>
      <p:sp>
        <p:nvSpPr>
          <p:cNvPr id="18" name="Rounded Rectangle 17"/>
          <p:cNvSpPr/>
          <p:nvPr/>
        </p:nvSpPr>
        <p:spPr>
          <a:xfrm>
            <a:off x="6199632" y="3968496"/>
            <a:ext cx="5440680" cy="1773936"/>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00800" y="4133087"/>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Wet and moving parts</a:t>
            </a:r>
          </a:p>
        </p:txBody>
      </p:sp>
      <p:sp>
        <p:nvSpPr>
          <p:cNvPr id="20" name="TextBox 19"/>
          <p:cNvSpPr txBox="1"/>
          <p:nvPr/>
        </p:nvSpPr>
        <p:spPr>
          <a:xfrm>
            <a:off x="6400800" y="4745736"/>
            <a:ext cx="5038344" cy="859536"/>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Guard the mixer, isolate wet areas and stop power before access. Confirm shaft sealing and support.</a:t>
            </a:r>
          </a:p>
        </p:txBody>
      </p:sp>
      <p:sp>
        <p:nvSpPr>
          <p:cNvPr id="21" name="Rounded Rectangle 20"/>
          <p:cNvSpPr/>
          <p:nvPr/>
        </p:nvSpPr>
        <p:spPr>
          <a:xfrm>
            <a:off x="521207" y="5925312"/>
            <a:ext cx="11109960" cy="420624"/>
          </a:xfrm>
          <a:prstGeom prst="roundRect">
            <a:avLst>
              <a:gd name="adj" fmla="val 8000"/>
            </a:avLst>
          </a:prstGeom>
          <a:solidFill>
            <a:srgbClr val="FAEE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8368" y="6007608"/>
            <a:ext cx="10835640" cy="310896"/>
          </a:xfrm>
          <a:prstGeom prst="rect">
            <a:avLst/>
          </a:prstGeom>
          <a:noFill/>
          <a:effectLst/>
        </p:spPr>
        <p:txBody>
          <a:bodyPr wrap="square" lIns="0" rIns="0" tIns="0" bIns="0" anchor="t">
            <a:spAutoFit/>
          </a:bodyPr>
          <a:lstStyle/>
          <a:p>
            <a:pPr algn="l">
              <a:lnSpc>
                <a:spcPct val="106000"/>
              </a:lnSpc>
              <a:spcAft>
                <a:spcPts val="600"/>
              </a:spcAft>
              <a:defRPr sz="1300" b="0">
                <a:solidFill>
                  <a:srgbClr val="A76A21"/>
                </a:solidFill>
                <a:latin typeface="Aptos"/>
              </a:defRPr>
            </a:pPr>
            <a:r>
              <a:t>Do not assume a 12 V / 2 A adapter or common L298N module can safely start every 775 motor.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19 / TESTING</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Validation plan</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No measured performance results were supplied. The following checks are proposed.</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20</a:t>
            </a:r>
          </a:p>
        </p:txBody>
      </p:sp>
      <p:sp>
        <p:nvSpPr>
          <p:cNvPr id="9" name="Rectangle 8"/>
          <p:cNvSpPr/>
          <p:nvPr/>
        </p:nvSpPr>
        <p:spPr>
          <a:xfrm>
            <a:off x="585216" y="1938528"/>
            <a:ext cx="2386584" cy="457200"/>
          </a:xfrm>
          <a:prstGeom prst="rect">
            <a:avLst/>
          </a:prstGeom>
          <a:solidFill>
            <a:srgbClr val="123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2066543"/>
            <a:ext cx="2148839" cy="219456"/>
          </a:xfrm>
          <a:prstGeom prst="rect">
            <a:avLst/>
          </a:prstGeom>
          <a:noFill/>
          <a:effectLst/>
        </p:spPr>
        <p:txBody>
          <a:bodyPr wrap="square" lIns="0" rIns="0" tIns="0" bIns="0" anchor="t">
            <a:spAutoFit/>
          </a:bodyPr>
          <a:lstStyle/>
          <a:p>
            <a:pPr algn="l">
              <a:lnSpc>
                <a:spcPct val="106000"/>
              </a:lnSpc>
              <a:spcAft>
                <a:spcPts val="600"/>
              </a:spcAft>
              <a:defRPr sz="1300" b="1">
                <a:solidFill>
                  <a:srgbClr val="FFFFFF"/>
                </a:solidFill>
                <a:latin typeface="Aptos"/>
              </a:defRPr>
            </a:pPr>
            <a:r>
              <a:t>CHECK</a:t>
            </a:r>
          </a:p>
        </p:txBody>
      </p:sp>
      <p:sp>
        <p:nvSpPr>
          <p:cNvPr id="11" name="Rectangle 10"/>
          <p:cNvSpPr/>
          <p:nvPr/>
        </p:nvSpPr>
        <p:spPr>
          <a:xfrm>
            <a:off x="2971800" y="1938528"/>
            <a:ext cx="5074920" cy="457200"/>
          </a:xfrm>
          <a:prstGeom prst="rect">
            <a:avLst/>
          </a:prstGeom>
          <a:solidFill>
            <a:srgbClr val="123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090672" y="2066543"/>
            <a:ext cx="4837176" cy="219456"/>
          </a:xfrm>
          <a:prstGeom prst="rect">
            <a:avLst/>
          </a:prstGeom>
          <a:noFill/>
          <a:effectLst/>
        </p:spPr>
        <p:txBody>
          <a:bodyPr wrap="square" lIns="0" rIns="0" tIns="0" bIns="0" anchor="t">
            <a:spAutoFit/>
          </a:bodyPr>
          <a:lstStyle/>
          <a:p>
            <a:pPr algn="l">
              <a:lnSpc>
                <a:spcPct val="106000"/>
              </a:lnSpc>
              <a:spcAft>
                <a:spcPts val="600"/>
              </a:spcAft>
              <a:defRPr sz="1300" b="1">
                <a:solidFill>
                  <a:srgbClr val="FFFFFF"/>
                </a:solidFill>
                <a:latin typeface="Aptos"/>
              </a:defRPr>
            </a:pPr>
            <a:r>
              <a:t>METHOD</a:t>
            </a:r>
          </a:p>
        </p:txBody>
      </p:sp>
      <p:sp>
        <p:nvSpPr>
          <p:cNvPr id="13" name="Rectangle 12"/>
          <p:cNvSpPr/>
          <p:nvPr/>
        </p:nvSpPr>
        <p:spPr>
          <a:xfrm>
            <a:off x="8046720" y="1938528"/>
            <a:ext cx="3547872" cy="457200"/>
          </a:xfrm>
          <a:prstGeom prst="rect">
            <a:avLst/>
          </a:prstGeom>
          <a:solidFill>
            <a:srgbClr val="123D3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65592" y="2066543"/>
            <a:ext cx="3310128" cy="219456"/>
          </a:xfrm>
          <a:prstGeom prst="rect">
            <a:avLst/>
          </a:prstGeom>
          <a:noFill/>
          <a:effectLst/>
        </p:spPr>
        <p:txBody>
          <a:bodyPr wrap="square" lIns="0" rIns="0" tIns="0" bIns="0" anchor="t">
            <a:spAutoFit/>
          </a:bodyPr>
          <a:lstStyle/>
          <a:p>
            <a:pPr algn="l">
              <a:lnSpc>
                <a:spcPct val="106000"/>
              </a:lnSpc>
              <a:spcAft>
                <a:spcPts val="600"/>
              </a:spcAft>
              <a:defRPr sz="1300" b="1">
                <a:solidFill>
                  <a:srgbClr val="FFFFFF"/>
                </a:solidFill>
                <a:latin typeface="Aptos"/>
              </a:defRPr>
            </a:pPr>
            <a:r>
              <a:t>RECORD</a:t>
            </a:r>
          </a:p>
        </p:txBody>
      </p:sp>
      <p:sp>
        <p:nvSpPr>
          <p:cNvPr id="15" name="Rectangle 14"/>
          <p:cNvSpPr/>
          <p:nvPr/>
        </p:nvSpPr>
        <p:spPr>
          <a:xfrm>
            <a:off x="585216" y="2395728"/>
            <a:ext cx="238658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04088" y="2505456"/>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Temperature</a:t>
            </a:r>
          </a:p>
        </p:txBody>
      </p:sp>
      <p:sp>
        <p:nvSpPr>
          <p:cNvPr id="17" name="Rectangle 16"/>
          <p:cNvSpPr/>
          <p:nvPr/>
        </p:nvSpPr>
        <p:spPr>
          <a:xfrm>
            <a:off x="2971800" y="2395728"/>
            <a:ext cx="5074920"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090672" y="2505456"/>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Compare with a suitable reference thermometer.</a:t>
            </a:r>
          </a:p>
        </p:txBody>
      </p:sp>
      <p:sp>
        <p:nvSpPr>
          <p:cNvPr id="19" name="Rectangle 18"/>
          <p:cNvSpPr/>
          <p:nvPr/>
        </p:nvSpPr>
        <p:spPr>
          <a:xfrm>
            <a:off x="8046720" y="2395728"/>
            <a:ext cx="3547872"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165592" y="2505456"/>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Error and repeatability</a:t>
            </a:r>
          </a:p>
        </p:txBody>
      </p:sp>
      <p:sp>
        <p:nvSpPr>
          <p:cNvPr id="21" name="Rectangle 20"/>
          <p:cNvSpPr/>
          <p:nvPr/>
        </p:nvSpPr>
        <p:spPr>
          <a:xfrm>
            <a:off x="585216" y="2916936"/>
            <a:ext cx="2386584"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04088" y="3026664"/>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Moisture response</a:t>
            </a:r>
          </a:p>
        </p:txBody>
      </p:sp>
      <p:sp>
        <p:nvSpPr>
          <p:cNvPr id="23" name="Rectangle 22"/>
          <p:cNvSpPr/>
          <p:nvPr/>
        </p:nvSpPr>
        <p:spPr>
          <a:xfrm>
            <a:off x="2971800" y="2916936"/>
            <a:ext cx="5074920"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090672" y="3026664"/>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Compare repeatable dry, damp and wet samples.</a:t>
            </a:r>
          </a:p>
        </p:txBody>
      </p:sp>
      <p:sp>
        <p:nvSpPr>
          <p:cNvPr id="25" name="Rectangle 24"/>
          <p:cNvSpPr/>
          <p:nvPr/>
        </p:nvSpPr>
        <p:spPr>
          <a:xfrm>
            <a:off x="8046720" y="2916936"/>
            <a:ext cx="3547872"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165592" y="3026664"/>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Raw readings and calibration</a:t>
            </a:r>
          </a:p>
        </p:txBody>
      </p:sp>
      <p:sp>
        <p:nvSpPr>
          <p:cNvPr id="27" name="Rectangle 26"/>
          <p:cNvSpPr/>
          <p:nvPr/>
        </p:nvSpPr>
        <p:spPr>
          <a:xfrm>
            <a:off x="585216" y="3438144"/>
            <a:ext cx="238658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04088" y="3547872"/>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Mixer operation</a:t>
            </a:r>
          </a:p>
        </p:txBody>
      </p:sp>
      <p:sp>
        <p:nvSpPr>
          <p:cNvPr id="29" name="Rectangle 28"/>
          <p:cNvSpPr/>
          <p:nvPr/>
        </p:nvSpPr>
        <p:spPr>
          <a:xfrm>
            <a:off x="2971800" y="3438144"/>
            <a:ext cx="5074920"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3090672" y="3547872"/>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Use guarded empty and progressively loaded runs.</a:t>
            </a:r>
          </a:p>
        </p:txBody>
      </p:sp>
      <p:sp>
        <p:nvSpPr>
          <p:cNvPr id="31" name="Rectangle 30"/>
          <p:cNvSpPr/>
          <p:nvPr/>
        </p:nvSpPr>
        <p:spPr>
          <a:xfrm>
            <a:off x="8046720" y="3438144"/>
            <a:ext cx="3547872"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165592" y="3547872"/>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Mixing, clearance and jams</a:t>
            </a:r>
          </a:p>
        </p:txBody>
      </p:sp>
      <p:sp>
        <p:nvSpPr>
          <p:cNvPr id="33" name="Rectangle 32"/>
          <p:cNvSpPr/>
          <p:nvPr/>
        </p:nvSpPr>
        <p:spPr>
          <a:xfrm>
            <a:off x="585216" y="3959352"/>
            <a:ext cx="2386584"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704088" y="4069080"/>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Electrical loading</a:t>
            </a:r>
          </a:p>
        </p:txBody>
      </p:sp>
      <p:sp>
        <p:nvSpPr>
          <p:cNvPr id="35" name="Rectangle 34"/>
          <p:cNvSpPr/>
          <p:nvPr/>
        </p:nvSpPr>
        <p:spPr>
          <a:xfrm>
            <a:off x="2971800" y="3959352"/>
            <a:ext cx="5074920"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3090672" y="4069080"/>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Measure safe start/run current and supply voltage.</a:t>
            </a:r>
          </a:p>
        </p:txBody>
      </p:sp>
      <p:sp>
        <p:nvSpPr>
          <p:cNvPr id="37" name="Rectangle 36"/>
          <p:cNvSpPr/>
          <p:nvPr/>
        </p:nvSpPr>
        <p:spPr>
          <a:xfrm>
            <a:off x="8046720" y="3959352"/>
            <a:ext cx="3547872"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165592" y="4069080"/>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Voltage sag and thermal rise</a:t>
            </a:r>
          </a:p>
        </p:txBody>
      </p:sp>
      <p:sp>
        <p:nvSpPr>
          <p:cNvPr id="39" name="Rectangle 38"/>
          <p:cNvSpPr/>
          <p:nvPr/>
        </p:nvSpPr>
        <p:spPr>
          <a:xfrm>
            <a:off x="585216" y="4480560"/>
            <a:ext cx="2386584"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704088" y="4590288"/>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Partition / enclosure</a:t>
            </a:r>
          </a:p>
        </p:txBody>
      </p:sp>
      <p:sp>
        <p:nvSpPr>
          <p:cNvPr id="41" name="Rectangle 40"/>
          <p:cNvSpPr/>
          <p:nvPr/>
        </p:nvSpPr>
        <p:spPr>
          <a:xfrm>
            <a:off x="2971800" y="4480560"/>
            <a:ext cx="5074920"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3090672" y="4590288"/>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Check for leakage, splash entry and loose fittings.</a:t>
            </a:r>
          </a:p>
        </p:txBody>
      </p:sp>
      <p:sp>
        <p:nvSpPr>
          <p:cNvPr id="43" name="Rectangle 42"/>
          <p:cNvSpPr/>
          <p:nvPr/>
        </p:nvSpPr>
        <p:spPr>
          <a:xfrm>
            <a:off x="8046720" y="4480560"/>
            <a:ext cx="3547872" cy="521207"/>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65592" y="4590288"/>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Observed issues and fixes</a:t>
            </a:r>
          </a:p>
        </p:txBody>
      </p:sp>
      <p:sp>
        <p:nvSpPr>
          <p:cNvPr id="45" name="Rectangle 44"/>
          <p:cNvSpPr/>
          <p:nvPr/>
        </p:nvSpPr>
        <p:spPr>
          <a:xfrm>
            <a:off x="585216" y="5001768"/>
            <a:ext cx="2386584"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04088" y="5111496"/>
            <a:ext cx="2148839" cy="402336"/>
          </a:xfrm>
          <a:prstGeom prst="rect">
            <a:avLst/>
          </a:prstGeom>
          <a:noFill/>
          <a:effectLst/>
        </p:spPr>
        <p:txBody>
          <a:bodyPr wrap="square" lIns="0" rIns="0" tIns="0" bIns="0" anchor="t">
            <a:spAutoFit/>
          </a:bodyPr>
          <a:lstStyle/>
          <a:p>
            <a:pPr algn="l">
              <a:lnSpc>
                <a:spcPct val="106000"/>
              </a:lnSpc>
              <a:spcAft>
                <a:spcPts val="600"/>
              </a:spcAft>
              <a:defRPr sz="1450" b="1">
                <a:solidFill>
                  <a:srgbClr val="253B33"/>
                </a:solidFill>
                <a:latin typeface="Aptos"/>
              </a:defRPr>
            </a:pPr>
            <a:r>
              <a:t>Composting trial</a:t>
            </a:r>
          </a:p>
        </p:txBody>
      </p:sp>
      <p:sp>
        <p:nvSpPr>
          <p:cNvPr id="47" name="Rectangle 46"/>
          <p:cNvSpPr/>
          <p:nvPr/>
        </p:nvSpPr>
        <p:spPr>
          <a:xfrm>
            <a:off x="2971800" y="5001768"/>
            <a:ext cx="5074920"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3090672" y="5111496"/>
            <a:ext cx="4837176"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Log batch inputs, conditions and maturation over time.</a:t>
            </a:r>
          </a:p>
        </p:txBody>
      </p:sp>
      <p:sp>
        <p:nvSpPr>
          <p:cNvPr id="49" name="Rectangle 48"/>
          <p:cNvSpPr/>
          <p:nvPr/>
        </p:nvSpPr>
        <p:spPr>
          <a:xfrm>
            <a:off x="8046720" y="5001768"/>
            <a:ext cx="3547872" cy="521207"/>
          </a:xfrm>
          <a:prstGeom prst="rect">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8165592" y="5111496"/>
            <a:ext cx="3310128" cy="402336"/>
          </a:xfrm>
          <a:prstGeom prst="rect">
            <a:avLst/>
          </a:prstGeom>
          <a:noFill/>
          <a:effectLst/>
        </p:spPr>
        <p:txBody>
          <a:bodyPr wrap="square" lIns="0" rIns="0" tIns="0" bIns="0" anchor="t">
            <a:spAutoFit/>
          </a:bodyPr>
          <a:lstStyle/>
          <a:p>
            <a:pPr algn="l">
              <a:lnSpc>
                <a:spcPct val="106000"/>
              </a:lnSpc>
              <a:spcAft>
                <a:spcPts val="600"/>
              </a:spcAft>
              <a:defRPr sz="1450" b="0">
                <a:solidFill>
                  <a:srgbClr val="253B33"/>
                </a:solidFill>
                <a:latin typeface="Aptos"/>
              </a:defRPr>
            </a:pPr>
            <a:r>
              <a:t>Trends—not assumed results</a:t>
            </a:r>
          </a:p>
        </p:txBody>
      </p:sp>
      <p:sp>
        <p:nvSpPr>
          <p:cNvPr id="51" name="Rounded Rectangle 50"/>
          <p:cNvSpPr/>
          <p:nvPr/>
        </p:nvSpPr>
        <p:spPr>
          <a:xfrm>
            <a:off x="521207" y="5861304"/>
            <a:ext cx="11109960" cy="420624"/>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58368" y="5943600"/>
            <a:ext cx="10835640" cy="310896"/>
          </a:xfrm>
          <a:prstGeom prst="rect">
            <a:avLst/>
          </a:prstGeom>
          <a:noFill/>
          <a:effectLst/>
        </p:spPr>
        <p:txBody>
          <a:bodyPr wrap="square" lIns="0" rIns="0" tIns="0" bIns="0" anchor="t">
            <a:spAutoFit/>
          </a:bodyPr>
          <a:lstStyle/>
          <a:p>
            <a:pPr algn="l">
              <a:lnSpc>
                <a:spcPct val="106000"/>
              </a:lnSpc>
              <a:spcAft>
                <a:spcPts val="600"/>
              </a:spcAft>
              <a:defRPr sz="1350" b="0">
                <a:solidFill>
                  <a:srgbClr val="123D32"/>
                </a:solidFill>
                <a:latin typeface="Aptos"/>
              </a:defRPr>
            </a:pPr>
            <a:r>
              <a:t>Only report composting time, energy use, reliability or compost quality after actual measurement.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20 / PROJECT VALUE</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Expected benefits and applications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Potential advantages to evaluate through prototype testing—not established performance claims.</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21</a:t>
            </a:r>
          </a:p>
        </p:txBody>
      </p:sp>
      <p:sp>
        <p:nvSpPr>
          <p:cNvPr id="9" name="Rounded Rectangle 8"/>
          <p:cNvSpPr/>
          <p:nvPr/>
        </p:nvSpPr>
        <p:spPr>
          <a:xfrm>
            <a:off x="566928" y="2011680"/>
            <a:ext cx="5440680" cy="176479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68096" y="2176272"/>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More visible conditions</a:t>
            </a:r>
          </a:p>
        </p:txBody>
      </p:sp>
      <p:sp>
        <p:nvSpPr>
          <p:cNvPr id="11" name="TextBox 10"/>
          <p:cNvSpPr txBox="1"/>
          <p:nvPr/>
        </p:nvSpPr>
        <p:spPr>
          <a:xfrm>
            <a:off x="768096" y="2788920"/>
            <a:ext cx="5038344" cy="850392"/>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Sensor readings can help the user identify changing temperature and moisture conditions.</a:t>
            </a:r>
          </a:p>
        </p:txBody>
      </p:sp>
      <p:sp>
        <p:nvSpPr>
          <p:cNvPr id="12" name="Rounded Rectangle 11"/>
          <p:cNvSpPr/>
          <p:nvPr/>
        </p:nvSpPr>
        <p:spPr>
          <a:xfrm>
            <a:off x="6199632" y="2011680"/>
            <a:ext cx="5440680" cy="176479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00800" y="2176272"/>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Less manual mixing</a:t>
            </a:r>
          </a:p>
        </p:txBody>
      </p:sp>
      <p:sp>
        <p:nvSpPr>
          <p:cNvPr id="14" name="TextBox 13"/>
          <p:cNvSpPr txBox="1"/>
          <p:nvPr/>
        </p:nvSpPr>
        <p:spPr>
          <a:xfrm>
            <a:off x="6400800" y="2788920"/>
            <a:ext cx="5038344" cy="850392"/>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Motor-assisted stirring is intended to reduce the effort needed for batch mixing.</a:t>
            </a:r>
          </a:p>
        </p:txBody>
      </p:sp>
      <p:sp>
        <p:nvSpPr>
          <p:cNvPr id="15" name="Rounded Rectangle 14"/>
          <p:cNvSpPr/>
          <p:nvPr/>
        </p:nvSpPr>
        <p:spPr>
          <a:xfrm>
            <a:off x="566928" y="3977639"/>
            <a:ext cx="5440680" cy="176479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8096" y="4142231"/>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Compact demonstration</a:t>
            </a:r>
          </a:p>
        </p:txBody>
      </p:sp>
      <p:sp>
        <p:nvSpPr>
          <p:cNvPr id="17" name="TextBox 16"/>
          <p:cNvSpPr txBox="1"/>
          <p:nvPr/>
        </p:nvSpPr>
        <p:spPr>
          <a:xfrm>
            <a:off x="768096" y="4754879"/>
            <a:ext cx="5038344" cy="850392"/>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A 10 L bucket format suits student laboratories and household-scale learning.</a:t>
            </a:r>
          </a:p>
        </p:txBody>
      </p:sp>
      <p:sp>
        <p:nvSpPr>
          <p:cNvPr id="18" name="Rounded Rectangle 17"/>
          <p:cNvSpPr/>
          <p:nvPr/>
        </p:nvSpPr>
        <p:spPr>
          <a:xfrm>
            <a:off x="6199632" y="3977639"/>
            <a:ext cx="5440680" cy="1764792"/>
          </a:xfrm>
          <a:prstGeom prst="roundRect">
            <a:avLst>
              <a:gd name="adj" fmla="val 8000"/>
            </a:avLst>
          </a:prstGeom>
          <a:solidFill>
            <a:srgbClr val="FFFFFF"/>
          </a:solidFill>
          <a:ln w="10160">
            <a:solidFill>
              <a:srgbClr val="D8E0D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400800" y="4142231"/>
            <a:ext cx="5038344" cy="475488"/>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Integrated engineering</a:t>
            </a:r>
          </a:p>
        </p:txBody>
      </p:sp>
      <p:sp>
        <p:nvSpPr>
          <p:cNvPr id="20" name="TextBox 19"/>
          <p:cNvSpPr txBox="1"/>
          <p:nvPr/>
        </p:nvSpPr>
        <p:spPr>
          <a:xfrm>
            <a:off x="6400800" y="4754879"/>
            <a:ext cx="5038344" cy="850392"/>
          </a:xfrm>
          <a:prstGeom prst="rect">
            <a:avLst/>
          </a:prstGeom>
          <a:noFill/>
          <a:effectLst/>
        </p:spPr>
        <p:txBody>
          <a:bodyPr wrap="square" lIns="0" rIns="0" tIns="0" bIns="0" anchor="t">
            <a:spAutoFit/>
          </a:bodyPr>
          <a:lstStyle/>
          <a:p>
            <a:pPr algn="l">
              <a:lnSpc>
                <a:spcPct val="106000"/>
              </a:lnSpc>
              <a:spcAft>
                <a:spcPts val="600"/>
              </a:spcAft>
              <a:defRPr sz="1800" b="0">
                <a:solidFill>
                  <a:srgbClr val="253B33"/>
                </a:solidFill>
                <a:latin typeface="Aptos"/>
              </a:defRPr>
            </a:pPr>
            <a:r>
              <a:t>The project connects mechanical construction, embedded control and organic-waste management.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21 / DEVELOPMENT ROADMAP</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Future improvements</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Upgrade only after the basic sensing, mixing and electrical system are validated.</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22</a:t>
            </a:r>
          </a:p>
        </p:txBody>
      </p:sp>
      <p:sp>
        <p:nvSpPr>
          <p:cNvPr id="9" name="Rounded Rectangle 8"/>
          <p:cNvSpPr/>
          <p:nvPr/>
        </p:nvSpPr>
        <p:spPr>
          <a:xfrm>
            <a:off x="594360" y="1975104"/>
            <a:ext cx="557784" cy="557784"/>
          </a:xfrm>
          <a:prstGeom prst="roundRect">
            <a:avLst>
              <a:gd name="adj" fmla="val 8000"/>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67512" y="2130552"/>
            <a:ext cx="411480" cy="228600"/>
          </a:xfrm>
          <a:prstGeom prst="rect">
            <a:avLst/>
          </a:prstGeom>
          <a:noFill/>
          <a:effectLst/>
        </p:spPr>
        <p:txBody>
          <a:bodyPr wrap="square" lIns="0" rIns="0" tIns="0" bIns="0" anchor="t">
            <a:spAutoFit/>
          </a:bodyPr>
          <a:lstStyle/>
          <a:p>
            <a:pPr algn="ctr">
              <a:lnSpc>
                <a:spcPct val="106000"/>
              </a:lnSpc>
              <a:spcAft>
                <a:spcPts val="600"/>
              </a:spcAft>
              <a:defRPr sz="1600" b="1">
                <a:solidFill>
                  <a:srgbClr val="FFFFFF"/>
                </a:solidFill>
                <a:latin typeface="Aptos"/>
              </a:defRPr>
            </a:pPr>
            <a:r>
              <a:t>01</a:t>
            </a:r>
          </a:p>
        </p:txBody>
      </p:sp>
      <p:sp>
        <p:nvSpPr>
          <p:cNvPr id="11" name="TextBox 10"/>
          <p:cNvSpPr txBox="1"/>
          <p:nvPr/>
        </p:nvSpPr>
        <p:spPr>
          <a:xfrm>
            <a:off x="1417320" y="1984248"/>
            <a:ext cx="2834640" cy="603504"/>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Reliable sensing</a:t>
            </a:r>
          </a:p>
        </p:txBody>
      </p:sp>
      <p:sp>
        <p:nvSpPr>
          <p:cNvPr id="12" name="TextBox 11"/>
          <p:cNvSpPr txBox="1"/>
          <p:nvPr/>
        </p:nvSpPr>
        <p:spPr>
          <a:xfrm>
            <a:off x="4617720" y="2002536"/>
            <a:ext cx="6757416" cy="740664"/>
          </a:xfrm>
          <a:prstGeom prst="rect">
            <a:avLst/>
          </a:prstGeom>
          <a:noFill/>
          <a:effectLst/>
        </p:spPr>
        <p:txBody>
          <a:bodyPr wrap="square" lIns="0" rIns="0" tIns="0" bIns="0" anchor="t">
            <a:spAutoFit/>
          </a:bodyPr>
          <a:lstStyle/>
          <a:p>
            <a:pPr algn="l">
              <a:lnSpc>
                <a:spcPct val="106000"/>
              </a:lnSpc>
              <a:spcAft>
                <a:spcPts val="600"/>
              </a:spcAft>
              <a:defRPr sz="1900" b="0">
                <a:solidFill>
                  <a:srgbClr val="253B33"/>
                </a:solidFill>
                <a:latin typeface="Aptos"/>
              </a:defRPr>
            </a:pPr>
            <a:r>
              <a:t>Use a suitable protected temperature probe and calibrate the moisture measurement.</a:t>
            </a:r>
          </a:p>
        </p:txBody>
      </p:sp>
      <p:sp>
        <p:nvSpPr>
          <p:cNvPr id="13" name="Rounded Rectangle 12"/>
          <p:cNvSpPr/>
          <p:nvPr/>
        </p:nvSpPr>
        <p:spPr>
          <a:xfrm>
            <a:off x="594360" y="2971800"/>
            <a:ext cx="557784" cy="557784"/>
          </a:xfrm>
          <a:prstGeom prst="roundRect">
            <a:avLst>
              <a:gd name="adj" fmla="val 8000"/>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667512" y="3127248"/>
            <a:ext cx="411480" cy="228600"/>
          </a:xfrm>
          <a:prstGeom prst="rect">
            <a:avLst/>
          </a:prstGeom>
          <a:noFill/>
          <a:effectLst/>
        </p:spPr>
        <p:txBody>
          <a:bodyPr wrap="square" lIns="0" rIns="0" tIns="0" bIns="0" anchor="t">
            <a:spAutoFit/>
          </a:bodyPr>
          <a:lstStyle/>
          <a:p>
            <a:pPr algn="ctr">
              <a:lnSpc>
                <a:spcPct val="106000"/>
              </a:lnSpc>
              <a:spcAft>
                <a:spcPts val="600"/>
              </a:spcAft>
              <a:defRPr sz="1600" b="1">
                <a:solidFill>
                  <a:srgbClr val="FFFFFF"/>
                </a:solidFill>
                <a:latin typeface="Aptos"/>
              </a:defRPr>
            </a:pPr>
            <a:r>
              <a:t>02</a:t>
            </a:r>
          </a:p>
        </p:txBody>
      </p:sp>
      <p:sp>
        <p:nvSpPr>
          <p:cNvPr id="15" name="TextBox 14"/>
          <p:cNvSpPr txBox="1"/>
          <p:nvPr/>
        </p:nvSpPr>
        <p:spPr>
          <a:xfrm>
            <a:off x="1417320" y="2980944"/>
            <a:ext cx="2834640" cy="603504"/>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Matched drive system</a:t>
            </a:r>
          </a:p>
        </p:txBody>
      </p:sp>
      <p:sp>
        <p:nvSpPr>
          <p:cNvPr id="16" name="TextBox 15"/>
          <p:cNvSpPr txBox="1"/>
          <p:nvPr/>
        </p:nvSpPr>
        <p:spPr>
          <a:xfrm>
            <a:off x="4617720" y="2999232"/>
            <a:ext cx="6757416" cy="740664"/>
          </a:xfrm>
          <a:prstGeom prst="rect">
            <a:avLst/>
          </a:prstGeom>
          <a:noFill/>
          <a:effectLst/>
        </p:spPr>
        <p:txBody>
          <a:bodyPr wrap="square" lIns="0" rIns="0" tIns="0" bIns="0" anchor="t">
            <a:spAutoFit/>
          </a:bodyPr>
          <a:lstStyle/>
          <a:p>
            <a:pPr algn="l">
              <a:lnSpc>
                <a:spcPct val="106000"/>
              </a:lnSpc>
              <a:spcAft>
                <a:spcPts val="600"/>
              </a:spcAft>
              <a:defRPr sz="1900" b="0">
                <a:solidFill>
                  <a:srgbClr val="253B33"/>
                </a:solidFill>
                <a:latin typeface="Aptos"/>
              </a:defRPr>
            </a:pPr>
            <a:r>
              <a:t>Select motor reduction, driver and power supply from measured torque/current needs.</a:t>
            </a:r>
          </a:p>
        </p:txBody>
      </p:sp>
      <p:sp>
        <p:nvSpPr>
          <p:cNvPr id="17" name="Rounded Rectangle 16"/>
          <p:cNvSpPr/>
          <p:nvPr/>
        </p:nvSpPr>
        <p:spPr>
          <a:xfrm>
            <a:off x="594360" y="3968496"/>
            <a:ext cx="557784" cy="557784"/>
          </a:xfrm>
          <a:prstGeom prst="roundRect">
            <a:avLst>
              <a:gd name="adj" fmla="val 8000"/>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667512" y="4123944"/>
            <a:ext cx="411480" cy="228600"/>
          </a:xfrm>
          <a:prstGeom prst="rect">
            <a:avLst/>
          </a:prstGeom>
          <a:noFill/>
          <a:effectLst/>
        </p:spPr>
        <p:txBody>
          <a:bodyPr wrap="square" lIns="0" rIns="0" tIns="0" bIns="0" anchor="t">
            <a:spAutoFit/>
          </a:bodyPr>
          <a:lstStyle/>
          <a:p>
            <a:pPr algn="ctr">
              <a:lnSpc>
                <a:spcPct val="106000"/>
              </a:lnSpc>
              <a:spcAft>
                <a:spcPts val="600"/>
              </a:spcAft>
              <a:defRPr sz="1600" b="1">
                <a:solidFill>
                  <a:srgbClr val="FFFFFF"/>
                </a:solidFill>
                <a:latin typeface="Aptos"/>
              </a:defRPr>
            </a:pPr>
            <a:r>
              <a:t>03</a:t>
            </a:r>
          </a:p>
        </p:txBody>
      </p:sp>
      <p:sp>
        <p:nvSpPr>
          <p:cNvPr id="19" name="TextBox 18"/>
          <p:cNvSpPr txBox="1"/>
          <p:nvPr/>
        </p:nvSpPr>
        <p:spPr>
          <a:xfrm>
            <a:off x="1417320" y="3977639"/>
            <a:ext cx="2834640" cy="603504"/>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Safer access</a:t>
            </a:r>
          </a:p>
        </p:txBody>
      </p:sp>
      <p:sp>
        <p:nvSpPr>
          <p:cNvPr id="20" name="TextBox 19"/>
          <p:cNvSpPr txBox="1"/>
          <p:nvPr/>
        </p:nvSpPr>
        <p:spPr>
          <a:xfrm>
            <a:off x="4617720" y="3995928"/>
            <a:ext cx="6757416" cy="740664"/>
          </a:xfrm>
          <a:prstGeom prst="rect">
            <a:avLst/>
          </a:prstGeom>
          <a:noFill/>
          <a:effectLst/>
        </p:spPr>
        <p:txBody>
          <a:bodyPr wrap="square" lIns="0" rIns="0" tIns="0" bIns="0" anchor="t">
            <a:spAutoFit/>
          </a:bodyPr>
          <a:lstStyle/>
          <a:p>
            <a:pPr algn="l">
              <a:lnSpc>
                <a:spcPct val="106000"/>
              </a:lnSpc>
              <a:spcAft>
                <a:spcPts val="600"/>
              </a:spcAft>
              <a:defRPr sz="1900" b="0">
                <a:solidFill>
                  <a:srgbClr val="253B33"/>
                </a:solidFill>
                <a:latin typeface="Aptos"/>
              </a:defRPr>
            </a:pPr>
            <a:r>
              <a:t>Add lid interlocking, overload protection and improved sealing around the shaft.</a:t>
            </a:r>
          </a:p>
        </p:txBody>
      </p:sp>
      <p:sp>
        <p:nvSpPr>
          <p:cNvPr id="21" name="Rounded Rectangle 20"/>
          <p:cNvSpPr/>
          <p:nvPr/>
        </p:nvSpPr>
        <p:spPr>
          <a:xfrm>
            <a:off x="594360" y="4965192"/>
            <a:ext cx="557784" cy="557784"/>
          </a:xfrm>
          <a:prstGeom prst="roundRect">
            <a:avLst>
              <a:gd name="adj" fmla="val 8000"/>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67512" y="5120640"/>
            <a:ext cx="411480" cy="228600"/>
          </a:xfrm>
          <a:prstGeom prst="rect">
            <a:avLst/>
          </a:prstGeom>
          <a:noFill/>
          <a:effectLst/>
        </p:spPr>
        <p:txBody>
          <a:bodyPr wrap="square" lIns="0" rIns="0" tIns="0" bIns="0" anchor="t">
            <a:spAutoFit/>
          </a:bodyPr>
          <a:lstStyle/>
          <a:p>
            <a:pPr algn="ctr">
              <a:lnSpc>
                <a:spcPct val="106000"/>
              </a:lnSpc>
              <a:spcAft>
                <a:spcPts val="600"/>
              </a:spcAft>
              <a:defRPr sz="1600" b="1">
                <a:solidFill>
                  <a:srgbClr val="FFFFFF"/>
                </a:solidFill>
                <a:latin typeface="Aptos"/>
              </a:defRPr>
            </a:pPr>
            <a:r>
              <a:t>04</a:t>
            </a:r>
          </a:p>
        </p:txBody>
      </p:sp>
      <p:sp>
        <p:nvSpPr>
          <p:cNvPr id="23" name="TextBox 22"/>
          <p:cNvSpPr txBox="1"/>
          <p:nvPr/>
        </p:nvSpPr>
        <p:spPr>
          <a:xfrm>
            <a:off x="1417320" y="4974336"/>
            <a:ext cx="2834640" cy="603504"/>
          </a:xfrm>
          <a:prstGeom prst="rect">
            <a:avLst/>
          </a:prstGeom>
          <a:noFill/>
          <a:effectLst/>
        </p:spPr>
        <p:txBody>
          <a:bodyPr wrap="square" lIns="0" rIns="0" tIns="0" bIns="0" anchor="t">
            <a:spAutoFit/>
          </a:bodyPr>
          <a:lstStyle/>
          <a:p>
            <a:pPr algn="l">
              <a:lnSpc>
                <a:spcPct val="106000"/>
              </a:lnSpc>
              <a:spcAft>
                <a:spcPts val="600"/>
              </a:spcAft>
              <a:defRPr sz="2200" b="1">
                <a:solidFill>
                  <a:srgbClr val="123D32"/>
                </a:solidFill>
                <a:latin typeface="Aptos"/>
              </a:defRPr>
            </a:pPr>
            <a:r>
              <a:t>Data and automation</a:t>
            </a:r>
          </a:p>
        </p:txBody>
      </p:sp>
      <p:sp>
        <p:nvSpPr>
          <p:cNvPr id="24" name="TextBox 23"/>
          <p:cNvSpPr txBox="1"/>
          <p:nvPr/>
        </p:nvSpPr>
        <p:spPr>
          <a:xfrm>
            <a:off x="4617720" y="4992624"/>
            <a:ext cx="6757416" cy="740664"/>
          </a:xfrm>
          <a:prstGeom prst="rect">
            <a:avLst/>
          </a:prstGeom>
          <a:noFill/>
          <a:effectLst/>
        </p:spPr>
        <p:txBody>
          <a:bodyPr wrap="square" lIns="0" rIns="0" tIns="0" bIns="0" anchor="t">
            <a:spAutoFit/>
          </a:bodyPr>
          <a:lstStyle/>
          <a:p>
            <a:pPr algn="l">
              <a:lnSpc>
                <a:spcPct val="106000"/>
              </a:lnSpc>
              <a:spcAft>
                <a:spcPts val="600"/>
              </a:spcAft>
              <a:defRPr sz="1900" b="0">
                <a:solidFill>
                  <a:srgbClr val="253B33"/>
                </a:solidFill>
                <a:latin typeface="Aptos"/>
              </a:defRPr>
            </a:pPr>
            <a:r>
              <a:t>Add local logging or wireless monitoring; consider watering only with suitable hardware.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6EF"/>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247A52"/>
                </a:solidFill>
                <a:latin typeface="Aptos"/>
              </a:defRPr>
            </a:pPr>
            <a:r>
              <a:t>22 / SOURCES</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123D32"/>
                </a:solidFill>
                <a:latin typeface="Aptos"/>
              </a:defRPr>
            </a:pPr>
            <a:r>
              <a:t>References and project evidence</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64746A"/>
                </a:solidFill>
                <a:latin typeface="Aptos"/>
              </a:defRPr>
            </a:pPr>
            <a:r>
              <a:t>Primary documentation supports the technical descriptions and stated limitations.</a:t>
            </a:r>
          </a:p>
        </p:txBody>
      </p:sp>
      <p:sp>
        <p:nvSpPr>
          <p:cNvPr id="6" name="Rectangle 5"/>
          <p:cNvSpPr/>
          <p:nvPr/>
        </p:nvSpPr>
        <p:spPr>
          <a:xfrm>
            <a:off x="502920" y="6428232"/>
            <a:ext cx="11155680" cy="10972"/>
          </a:xfrm>
          <a:prstGeom prst="rect">
            <a:avLst/>
          </a:prstGeom>
          <a:solidFill>
            <a:srgbClr val="D8E0D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64746A"/>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247A52"/>
                </a:solidFill>
                <a:latin typeface="Aptos"/>
              </a:defRPr>
            </a:pPr>
            <a:r>
              <a:t>23</a:t>
            </a:r>
          </a:p>
        </p:txBody>
      </p:sp>
      <p:sp>
        <p:nvSpPr>
          <p:cNvPr id="9" name="TextBox 8"/>
          <p:cNvSpPr txBox="1"/>
          <p:nvPr/>
        </p:nvSpPr>
        <p:spPr>
          <a:xfrm>
            <a:off x="612648" y="1938528"/>
            <a:ext cx="5541264" cy="310896"/>
          </a:xfrm>
          <a:prstGeom prst="rect">
            <a:avLst/>
          </a:prstGeom>
          <a:noFill/>
          <a:effectLst/>
        </p:spPr>
        <p:txBody>
          <a:bodyPr wrap="square" lIns="0" rIns="0" tIns="0" bIns="0" anchor="t">
            <a:spAutoFit/>
          </a:bodyPr>
          <a:lstStyle/>
          <a:p>
            <a:pPr algn="l">
              <a:lnSpc>
                <a:spcPct val="106000"/>
              </a:lnSpc>
              <a:spcAft>
                <a:spcPts val="600"/>
              </a:spcAft>
              <a:defRPr sz="1900" b="1">
                <a:solidFill>
                  <a:srgbClr val="123D32"/>
                </a:solidFill>
                <a:latin typeface="Aptos"/>
              </a:defRPr>
            </a:pPr>
            <a:r>
              <a:t>Arduino UNO R3 documentation</a:t>
            </a:r>
          </a:p>
        </p:txBody>
      </p:sp>
      <p:sp>
        <p:nvSpPr>
          <p:cNvPr id="10" name="TextBox 9"/>
          <p:cNvSpPr txBox="1"/>
          <p:nvPr/>
        </p:nvSpPr>
        <p:spPr>
          <a:xfrm>
            <a:off x="6245352" y="1956816"/>
            <a:ext cx="5321808"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64746A"/>
                </a:solidFill>
                <a:latin typeface="Aptos"/>
              </a:defRPr>
            </a:pPr>
            <a:r>
              <a:t>Controller overview and 5 V logic</a:t>
            </a:r>
          </a:p>
        </p:txBody>
      </p:sp>
      <p:sp>
        <p:nvSpPr>
          <p:cNvPr id="11" name="TextBox 10"/>
          <p:cNvSpPr txBox="1"/>
          <p:nvPr/>
        </p:nvSpPr>
        <p:spPr>
          <a:xfrm>
            <a:off x="612648" y="2304288"/>
            <a:ext cx="10936224" cy="283464"/>
          </a:xfrm>
          <a:prstGeom prst="rect">
            <a:avLst/>
          </a:prstGeom>
          <a:noFill/>
          <a:effectLst/>
        </p:spPr>
        <p:txBody>
          <a:bodyPr wrap="square" lIns="0" rIns="0" tIns="0" bIns="0" anchor="t">
            <a:spAutoFit/>
          </a:bodyPr>
          <a:lstStyle/>
          <a:p>
            <a:pPr algn="l">
              <a:lnSpc>
                <a:spcPct val="106000"/>
              </a:lnSpc>
              <a:spcAft>
                <a:spcPts val="600"/>
              </a:spcAft>
              <a:defRPr sz="1400" b="0">
                <a:solidFill>
                  <a:srgbClr val="247A52"/>
                </a:solidFill>
                <a:latin typeface="Aptos"/>
              </a:defRPr>
            </a:pPr>
            <a:r>
              <a:rPr>
                <a:hlinkClick r:id="rId2"/>
              </a:rPr>
              <a:t>https://docs.arduino.cc/hardware/uno-rev3/</a:t>
            </a:r>
          </a:p>
        </p:txBody>
      </p:sp>
      <p:sp>
        <p:nvSpPr>
          <p:cNvPr id="12" name="TextBox 11"/>
          <p:cNvSpPr txBox="1"/>
          <p:nvPr/>
        </p:nvSpPr>
        <p:spPr>
          <a:xfrm>
            <a:off x="612648" y="2779776"/>
            <a:ext cx="5541264" cy="310896"/>
          </a:xfrm>
          <a:prstGeom prst="rect">
            <a:avLst/>
          </a:prstGeom>
          <a:noFill/>
          <a:effectLst/>
        </p:spPr>
        <p:txBody>
          <a:bodyPr wrap="square" lIns="0" rIns="0" tIns="0" bIns="0" anchor="t">
            <a:spAutoFit/>
          </a:bodyPr>
          <a:lstStyle/>
          <a:p>
            <a:pPr algn="l">
              <a:lnSpc>
                <a:spcPct val="106000"/>
              </a:lnSpc>
              <a:spcAft>
                <a:spcPts val="600"/>
              </a:spcAft>
              <a:defRPr sz="1900" b="1">
                <a:solidFill>
                  <a:srgbClr val="123D32"/>
                </a:solidFill>
                <a:latin typeface="Aptos"/>
              </a:defRPr>
            </a:pPr>
            <a:r>
              <a:t>STMicroelectronics — L298 datasheet</a:t>
            </a:r>
          </a:p>
        </p:txBody>
      </p:sp>
      <p:sp>
        <p:nvSpPr>
          <p:cNvPr id="13" name="TextBox 12"/>
          <p:cNvSpPr txBox="1"/>
          <p:nvPr/>
        </p:nvSpPr>
        <p:spPr>
          <a:xfrm>
            <a:off x="6245352" y="2798064"/>
            <a:ext cx="5321808"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64746A"/>
                </a:solidFill>
                <a:latin typeface="Aptos"/>
              </a:defRPr>
            </a:pPr>
            <a:r>
              <a:t>Driver ratings, voltage drop and thermal considerations</a:t>
            </a:r>
          </a:p>
        </p:txBody>
      </p:sp>
      <p:sp>
        <p:nvSpPr>
          <p:cNvPr id="14" name="TextBox 13"/>
          <p:cNvSpPr txBox="1"/>
          <p:nvPr/>
        </p:nvSpPr>
        <p:spPr>
          <a:xfrm>
            <a:off x="612648" y="3145536"/>
            <a:ext cx="10936224" cy="283464"/>
          </a:xfrm>
          <a:prstGeom prst="rect">
            <a:avLst/>
          </a:prstGeom>
          <a:noFill/>
          <a:effectLst/>
        </p:spPr>
        <p:txBody>
          <a:bodyPr wrap="square" lIns="0" rIns="0" tIns="0" bIns="0" anchor="t">
            <a:spAutoFit/>
          </a:bodyPr>
          <a:lstStyle/>
          <a:p>
            <a:pPr algn="l">
              <a:lnSpc>
                <a:spcPct val="106000"/>
              </a:lnSpc>
              <a:spcAft>
                <a:spcPts val="600"/>
              </a:spcAft>
              <a:defRPr sz="1400" b="0">
                <a:solidFill>
                  <a:srgbClr val="247A52"/>
                </a:solidFill>
                <a:latin typeface="Aptos"/>
              </a:defRPr>
            </a:pPr>
            <a:r>
              <a:rPr>
                <a:hlinkClick r:id="rId3"/>
              </a:rPr>
              <a:t>https://www.st.com/resource/en/datasheet/l298.pdf</a:t>
            </a:r>
          </a:p>
        </p:txBody>
      </p:sp>
      <p:sp>
        <p:nvSpPr>
          <p:cNvPr id="15" name="TextBox 14"/>
          <p:cNvSpPr txBox="1"/>
          <p:nvPr/>
        </p:nvSpPr>
        <p:spPr>
          <a:xfrm>
            <a:off x="612648" y="3621024"/>
            <a:ext cx="5541264" cy="310896"/>
          </a:xfrm>
          <a:prstGeom prst="rect">
            <a:avLst/>
          </a:prstGeom>
          <a:noFill/>
          <a:effectLst/>
        </p:spPr>
        <p:txBody>
          <a:bodyPr wrap="square" lIns="0" rIns="0" tIns="0" bIns="0" anchor="t">
            <a:spAutoFit/>
          </a:bodyPr>
          <a:lstStyle/>
          <a:p>
            <a:pPr algn="l">
              <a:lnSpc>
                <a:spcPct val="106000"/>
              </a:lnSpc>
              <a:spcAft>
                <a:spcPts val="600"/>
              </a:spcAft>
              <a:defRPr sz="1900" b="1">
                <a:solidFill>
                  <a:srgbClr val="123D32"/>
                </a:solidFill>
                <a:latin typeface="Aptos"/>
              </a:defRPr>
            </a:pPr>
            <a:r>
              <a:t>Adafruit — DHT sensor guide</a:t>
            </a:r>
          </a:p>
        </p:txBody>
      </p:sp>
      <p:sp>
        <p:nvSpPr>
          <p:cNvPr id="16" name="TextBox 15"/>
          <p:cNvSpPr txBox="1"/>
          <p:nvPr/>
        </p:nvSpPr>
        <p:spPr>
          <a:xfrm>
            <a:off x="6245352" y="3639312"/>
            <a:ext cx="5321808"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64746A"/>
                </a:solidFill>
                <a:latin typeface="Aptos"/>
              </a:defRPr>
            </a:pPr>
            <a:r>
              <a:t>DHT11 measurement ranges and sensor characteristics</a:t>
            </a:r>
          </a:p>
        </p:txBody>
      </p:sp>
      <p:sp>
        <p:nvSpPr>
          <p:cNvPr id="17" name="TextBox 16"/>
          <p:cNvSpPr txBox="1"/>
          <p:nvPr/>
        </p:nvSpPr>
        <p:spPr>
          <a:xfrm>
            <a:off x="612648" y="3986784"/>
            <a:ext cx="10936224" cy="283464"/>
          </a:xfrm>
          <a:prstGeom prst="rect">
            <a:avLst/>
          </a:prstGeom>
          <a:noFill/>
          <a:effectLst/>
        </p:spPr>
        <p:txBody>
          <a:bodyPr wrap="square" lIns="0" rIns="0" tIns="0" bIns="0" anchor="t">
            <a:spAutoFit/>
          </a:bodyPr>
          <a:lstStyle/>
          <a:p>
            <a:pPr algn="l">
              <a:lnSpc>
                <a:spcPct val="106000"/>
              </a:lnSpc>
              <a:spcAft>
                <a:spcPts val="600"/>
              </a:spcAft>
              <a:defRPr sz="1400" b="0">
                <a:solidFill>
                  <a:srgbClr val="247A52"/>
                </a:solidFill>
                <a:latin typeface="Aptos"/>
              </a:defRPr>
            </a:pPr>
            <a:r>
              <a:rPr>
                <a:hlinkClick r:id="rId4"/>
              </a:rPr>
              <a:t>https://learn.adafruit.com/dht/overview</a:t>
            </a:r>
          </a:p>
        </p:txBody>
      </p:sp>
      <p:sp>
        <p:nvSpPr>
          <p:cNvPr id="18" name="TextBox 17"/>
          <p:cNvSpPr txBox="1"/>
          <p:nvPr/>
        </p:nvSpPr>
        <p:spPr>
          <a:xfrm>
            <a:off x="612648" y="4462272"/>
            <a:ext cx="5541264" cy="310896"/>
          </a:xfrm>
          <a:prstGeom prst="rect">
            <a:avLst/>
          </a:prstGeom>
          <a:noFill/>
          <a:effectLst/>
        </p:spPr>
        <p:txBody>
          <a:bodyPr wrap="square" lIns="0" rIns="0" tIns="0" bIns="0" anchor="t">
            <a:spAutoFit/>
          </a:bodyPr>
          <a:lstStyle/>
          <a:p>
            <a:pPr algn="l">
              <a:lnSpc>
                <a:spcPct val="106000"/>
              </a:lnSpc>
              <a:spcAft>
                <a:spcPts val="600"/>
              </a:spcAft>
              <a:defRPr sz="1900" b="1">
                <a:solidFill>
                  <a:srgbClr val="123D32"/>
                </a:solidFill>
                <a:latin typeface="Aptos"/>
              </a:defRPr>
            </a:pPr>
            <a:r>
              <a:t>US EPA — Composting At Home</a:t>
            </a:r>
          </a:p>
        </p:txBody>
      </p:sp>
      <p:sp>
        <p:nvSpPr>
          <p:cNvPr id="19" name="TextBox 18"/>
          <p:cNvSpPr txBox="1"/>
          <p:nvPr/>
        </p:nvSpPr>
        <p:spPr>
          <a:xfrm>
            <a:off x="6245352" y="4480560"/>
            <a:ext cx="5321808" cy="310896"/>
          </a:xfrm>
          <a:prstGeom prst="rect">
            <a:avLst/>
          </a:prstGeom>
          <a:noFill/>
          <a:effectLst/>
        </p:spPr>
        <p:txBody>
          <a:bodyPr wrap="square" lIns="0" rIns="0" tIns="0" bIns="0" anchor="t">
            <a:spAutoFit/>
          </a:bodyPr>
          <a:lstStyle/>
          <a:p>
            <a:pPr algn="l">
              <a:lnSpc>
                <a:spcPct val="106000"/>
              </a:lnSpc>
              <a:spcAft>
                <a:spcPts val="600"/>
              </a:spcAft>
              <a:defRPr sz="1400" b="0">
                <a:solidFill>
                  <a:srgbClr val="64746A"/>
                </a:solidFill>
                <a:latin typeface="Aptos"/>
              </a:defRPr>
            </a:pPr>
            <a:r>
              <a:t>Feedstock, moisture and aeration fundamentals</a:t>
            </a:r>
          </a:p>
        </p:txBody>
      </p:sp>
      <p:sp>
        <p:nvSpPr>
          <p:cNvPr id="20" name="TextBox 19"/>
          <p:cNvSpPr txBox="1"/>
          <p:nvPr/>
        </p:nvSpPr>
        <p:spPr>
          <a:xfrm>
            <a:off x="612648" y="4828032"/>
            <a:ext cx="10936224" cy="283464"/>
          </a:xfrm>
          <a:prstGeom prst="rect">
            <a:avLst/>
          </a:prstGeom>
          <a:noFill/>
          <a:effectLst/>
        </p:spPr>
        <p:txBody>
          <a:bodyPr wrap="square" lIns="0" rIns="0" tIns="0" bIns="0" anchor="t">
            <a:spAutoFit/>
          </a:bodyPr>
          <a:lstStyle/>
          <a:p>
            <a:pPr algn="l">
              <a:lnSpc>
                <a:spcPct val="106000"/>
              </a:lnSpc>
              <a:spcAft>
                <a:spcPts val="600"/>
              </a:spcAft>
              <a:defRPr sz="1400" b="0">
                <a:solidFill>
                  <a:srgbClr val="247A52"/>
                </a:solidFill>
                <a:latin typeface="Aptos"/>
              </a:defRPr>
            </a:pPr>
            <a:r>
              <a:rPr>
                <a:hlinkClick r:id="rId5"/>
              </a:rPr>
              <a:t>https://www.epa.gov/recycle/composting-home</a:t>
            </a:r>
          </a:p>
        </p:txBody>
      </p:sp>
      <p:sp>
        <p:nvSpPr>
          <p:cNvPr id="21" name="Rounded Rectangle 20"/>
          <p:cNvSpPr/>
          <p:nvPr/>
        </p:nvSpPr>
        <p:spPr>
          <a:xfrm>
            <a:off x="521207" y="5742432"/>
            <a:ext cx="11109960" cy="521207"/>
          </a:xfrm>
          <a:prstGeom prst="roundRect">
            <a:avLst>
              <a:gd name="adj" fmla="val 8000"/>
            </a:avLst>
          </a:prstGeom>
          <a:solidFill>
            <a:srgbClr val="E9F0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658368" y="5824728"/>
            <a:ext cx="10835640" cy="411479"/>
          </a:xfrm>
          <a:prstGeom prst="rect">
            <a:avLst/>
          </a:prstGeom>
          <a:noFill/>
          <a:effectLst/>
        </p:spPr>
        <p:txBody>
          <a:bodyPr wrap="square" lIns="0" rIns="0" tIns="0" bIns="0" anchor="t">
            <a:spAutoFit/>
          </a:bodyPr>
          <a:lstStyle/>
          <a:p>
            <a:pPr algn="l">
              <a:lnSpc>
                <a:spcPct val="106000"/>
              </a:lnSpc>
              <a:spcAft>
                <a:spcPts val="600"/>
              </a:spcAft>
              <a:defRPr sz="1350" b="0">
                <a:solidFill>
                  <a:srgbClr val="123D32"/>
                </a:solidFill>
                <a:latin typeface="Aptos"/>
              </a:defRPr>
            </a:pPr>
            <a:r>
              <a:t>Project evidence: team details, stated hardware and all 18 supplied CAD images. No test data supplied.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3D32"/>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C8E5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02920" y="283464"/>
            <a:ext cx="10881360" cy="228600"/>
          </a:xfrm>
          <a:prstGeom prst="rect">
            <a:avLst/>
          </a:prstGeom>
          <a:noFill/>
          <a:effectLst/>
        </p:spPr>
        <p:txBody>
          <a:bodyPr wrap="square" lIns="0" rIns="0" tIns="0" bIns="0" anchor="t">
            <a:spAutoFit/>
          </a:bodyPr>
          <a:lstStyle/>
          <a:p>
            <a:pPr algn="l">
              <a:lnSpc>
                <a:spcPct val="106000"/>
              </a:lnSpc>
              <a:spcAft>
                <a:spcPts val="600"/>
              </a:spcAft>
              <a:defRPr sz="1000" b="1">
                <a:solidFill>
                  <a:srgbClr val="C8E58C"/>
                </a:solidFill>
                <a:latin typeface="Aptos"/>
              </a:defRPr>
            </a:pPr>
            <a:r>
              <a:t>23 / CONCLUSION</a:t>
            </a:r>
          </a:p>
        </p:txBody>
      </p:sp>
      <p:sp>
        <p:nvSpPr>
          <p:cNvPr id="4" name="TextBox 3"/>
          <p:cNvSpPr txBox="1"/>
          <p:nvPr/>
        </p:nvSpPr>
        <p:spPr>
          <a:xfrm>
            <a:off x="502920" y="704088"/>
            <a:ext cx="11109960" cy="576072"/>
          </a:xfrm>
          <a:prstGeom prst="rect">
            <a:avLst/>
          </a:prstGeom>
          <a:noFill/>
          <a:effectLst/>
        </p:spPr>
        <p:txBody>
          <a:bodyPr wrap="square" lIns="0" rIns="0" tIns="0" bIns="0" anchor="t">
            <a:spAutoFit/>
          </a:bodyPr>
          <a:lstStyle/>
          <a:p>
            <a:pPr algn="l">
              <a:lnSpc>
                <a:spcPct val="106000"/>
              </a:lnSpc>
              <a:spcAft>
                <a:spcPts val="600"/>
              </a:spcAft>
              <a:defRPr sz="3100" b="1">
                <a:solidFill>
                  <a:srgbClr val="FFFFFF"/>
                </a:solidFill>
                <a:latin typeface="Aptos"/>
              </a:defRPr>
            </a:pPr>
            <a:r>
              <a:t>A practical step toward smarter composting</a:t>
            </a:r>
          </a:p>
        </p:txBody>
      </p:sp>
      <p:sp>
        <p:nvSpPr>
          <p:cNvPr id="5" name="TextBox 4"/>
          <p:cNvSpPr txBox="1"/>
          <p:nvPr/>
        </p:nvSpPr>
        <p:spPr>
          <a:xfrm>
            <a:off x="521207" y="1335024"/>
            <a:ext cx="11018520" cy="530352"/>
          </a:xfrm>
          <a:prstGeom prst="rect">
            <a:avLst/>
          </a:prstGeom>
          <a:noFill/>
          <a:effectLst/>
        </p:spPr>
        <p:txBody>
          <a:bodyPr wrap="square" lIns="0" rIns="0" tIns="0" bIns="0" anchor="t">
            <a:spAutoFit/>
          </a:bodyPr>
          <a:lstStyle/>
          <a:p>
            <a:pPr algn="l">
              <a:lnSpc>
                <a:spcPct val="106000"/>
              </a:lnSpc>
              <a:spcAft>
                <a:spcPts val="600"/>
              </a:spcAft>
              <a:defRPr sz="1500" b="0">
                <a:solidFill>
                  <a:srgbClr val="D8E0D4"/>
                </a:solidFill>
                <a:latin typeface="Aptos"/>
              </a:defRPr>
            </a:pPr>
            <a:r>
              <a:t>Monitor conditions. Assist mixing. Validate the system.</a:t>
            </a:r>
          </a:p>
        </p:txBody>
      </p:sp>
      <p:sp>
        <p:nvSpPr>
          <p:cNvPr id="6" name="Rectangle 5"/>
          <p:cNvSpPr/>
          <p:nvPr/>
        </p:nvSpPr>
        <p:spPr>
          <a:xfrm>
            <a:off x="502920" y="6428232"/>
            <a:ext cx="11155680" cy="10972"/>
          </a:xfrm>
          <a:prstGeom prst="rect">
            <a:avLst/>
          </a:prstGeom>
          <a:solidFill>
            <a:srgbClr val="247A5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21207" y="6537960"/>
            <a:ext cx="9784080" cy="173736"/>
          </a:xfrm>
          <a:prstGeom prst="rect">
            <a:avLst/>
          </a:prstGeom>
          <a:noFill/>
          <a:effectLst/>
        </p:spPr>
        <p:txBody>
          <a:bodyPr wrap="square" lIns="0" rIns="0" tIns="0" bIns="0" anchor="t">
            <a:spAutoFit/>
          </a:bodyPr>
          <a:lstStyle/>
          <a:p>
            <a:pPr algn="l">
              <a:lnSpc>
                <a:spcPct val="106000"/>
              </a:lnSpc>
              <a:spcAft>
                <a:spcPts val="600"/>
              </a:spcAft>
              <a:defRPr sz="900" b="0">
                <a:solidFill>
                  <a:srgbClr val="D8E0D4"/>
                </a:solidFill>
                <a:latin typeface="Aptos"/>
              </a:defRPr>
            </a:pPr>
            <a:r>
              <a:t>SMART COMPOSTING SYSTEM  /  PROJECT PRESENTATION</a:t>
            </a:r>
          </a:p>
        </p:txBody>
      </p:sp>
      <p:sp>
        <p:nvSpPr>
          <p:cNvPr id="8" name="TextBox 7"/>
          <p:cNvSpPr txBox="1"/>
          <p:nvPr/>
        </p:nvSpPr>
        <p:spPr>
          <a:xfrm>
            <a:off x="11000232" y="6501384"/>
            <a:ext cx="640080" cy="228600"/>
          </a:xfrm>
          <a:prstGeom prst="rect">
            <a:avLst/>
          </a:prstGeom>
          <a:noFill/>
          <a:effectLst/>
        </p:spPr>
        <p:txBody>
          <a:bodyPr wrap="square" lIns="0" rIns="0" tIns="0" bIns="0" anchor="t">
            <a:spAutoFit/>
          </a:bodyPr>
          <a:lstStyle/>
          <a:p>
            <a:pPr algn="r">
              <a:lnSpc>
                <a:spcPct val="106000"/>
              </a:lnSpc>
              <a:spcAft>
                <a:spcPts val="600"/>
              </a:spcAft>
              <a:defRPr sz="1100" b="1">
                <a:solidFill>
                  <a:srgbClr val="C8E58C"/>
                </a:solidFill>
                <a:latin typeface="Aptos"/>
              </a:defRPr>
            </a:pPr>
            <a:r>
              <a:t>24</a:t>
            </a:r>
          </a:p>
        </p:txBody>
      </p:sp>
      <p:sp>
        <p:nvSpPr>
          <p:cNvPr id="9" name="TextBox 8"/>
          <p:cNvSpPr txBox="1"/>
          <p:nvPr/>
        </p:nvSpPr>
        <p:spPr>
          <a:xfrm>
            <a:off x="612648" y="2148840"/>
            <a:ext cx="5989320" cy="1527048"/>
          </a:xfrm>
          <a:prstGeom prst="rect">
            <a:avLst/>
          </a:prstGeom>
          <a:noFill/>
          <a:effectLst/>
        </p:spPr>
        <p:txBody>
          <a:bodyPr wrap="square" lIns="0" rIns="0" tIns="0" bIns="0" anchor="t">
            <a:spAutoFit/>
          </a:bodyPr>
          <a:lstStyle/>
          <a:p>
            <a:pPr algn="l">
              <a:lnSpc>
                <a:spcPct val="106000"/>
              </a:lnSpc>
              <a:spcAft>
                <a:spcPts val="600"/>
              </a:spcAft>
              <a:defRPr sz="3400" b="1">
                <a:solidFill>
                  <a:srgbClr val="FFFFFF"/>
                </a:solidFill>
                <a:latin typeface="Aptos"/>
              </a:defRPr>
            </a:pPr>
            <a:r>
              <a:t>Small prototype.</a:t>
            </a:r>
          </a:p>
          <a:p>
            <a:pPr algn="l">
              <a:lnSpc>
                <a:spcPct val="106000"/>
              </a:lnSpc>
              <a:spcAft>
                <a:spcPts val="600"/>
              </a:spcAft>
              <a:defRPr sz="3400" b="1">
                <a:solidFill>
                  <a:srgbClr val="FFFFFF"/>
                </a:solidFill>
                <a:latin typeface="Aptos"/>
              </a:defRPr>
            </a:pPr>
            <a:r>
              <a:t>Clear engineering goals.</a:t>
            </a:r>
          </a:p>
        </p:txBody>
      </p:sp>
      <p:sp>
        <p:nvSpPr>
          <p:cNvPr id="10" name="Rectangle 9"/>
          <p:cNvSpPr/>
          <p:nvPr/>
        </p:nvSpPr>
        <p:spPr>
          <a:xfrm>
            <a:off x="658368" y="4023360"/>
            <a:ext cx="59436" cy="59436"/>
          </a:xfrm>
          <a:prstGeom prst="rect">
            <a:avLst/>
          </a:prstGeom>
          <a:solidFill>
            <a:srgbClr val="C8E5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59536" y="3913632"/>
            <a:ext cx="5513832" cy="621792"/>
          </a:xfrm>
          <a:prstGeom prst="rect">
            <a:avLst/>
          </a:prstGeom>
          <a:noFill/>
          <a:effectLst/>
        </p:spPr>
        <p:txBody>
          <a:bodyPr wrap="square" lIns="0" rIns="0" tIns="0" bIns="0" anchor="t">
            <a:spAutoFit/>
          </a:bodyPr>
          <a:lstStyle/>
          <a:p>
            <a:pPr algn="l">
              <a:lnSpc>
                <a:spcPct val="106000"/>
              </a:lnSpc>
              <a:spcAft>
                <a:spcPts val="600"/>
              </a:spcAft>
              <a:defRPr sz="1900" b="0">
                <a:solidFill>
                  <a:srgbClr val="D8E0D4"/>
                </a:solidFill>
                <a:latin typeface="Aptos"/>
              </a:defRPr>
            </a:pPr>
            <a:r>
              <a:t>Arduino Uno integrates sensing and motor commands.</a:t>
            </a:r>
          </a:p>
        </p:txBody>
      </p:sp>
      <p:sp>
        <p:nvSpPr>
          <p:cNvPr id="12" name="Rectangle 11"/>
          <p:cNvSpPr/>
          <p:nvPr/>
        </p:nvSpPr>
        <p:spPr>
          <a:xfrm>
            <a:off x="658368" y="4645152"/>
            <a:ext cx="59436" cy="59436"/>
          </a:xfrm>
          <a:prstGeom prst="rect">
            <a:avLst/>
          </a:prstGeom>
          <a:solidFill>
            <a:srgbClr val="C8E5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59536" y="4535424"/>
            <a:ext cx="5513832" cy="621792"/>
          </a:xfrm>
          <a:prstGeom prst="rect">
            <a:avLst/>
          </a:prstGeom>
          <a:noFill/>
          <a:effectLst/>
        </p:spPr>
        <p:txBody>
          <a:bodyPr wrap="square" lIns="0" rIns="0" tIns="0" bIns="0" anchor="t">
            <a:spAutoFit/>
          </a:bodyPr>
          <a:lstStyle/>
          <a:p>
            <a:pPr algn="l">
              <a:lnSpc>
                <a:spcPct val="106000"/>
              </a:lnSpc>
              <a:spcAft>
                <a:spcPts val="600"/>
              </a:spcAft>
              <a:defRPr sz="1900" b="0">
                <a:solidFill>
                  <a:srgbClr val="D8E0D4"/>
                </a:solidFill>
                <a:latin typeface="Aptos"/>
              </a:defRPr>
            </a:pPr>
            <a:r>
              <a:t>The 10 L bucket concept combines a partition and mixing assembly.</a:t>
            </a:r>
          </a:p>
        </p:txBody>
      </p:sp>
      <p:sp>
        <p:nvSpPr>
          <p:cNvPr id="14" name="Rectangle 13"/>
          <p:cNvSpPr/>
          <p:nvPr/>
        </p:nvSpPr>
        <p:spPr>
          <a:xfrm>
            <a:off x="658368" y="5266944"/>
            <a:ext cx="59436" cy="59436"/>
          </a:xfrm>
          <a:prstGeom prst="rect">
            <a:avLst/>
          </a:prstGeom>
          <a:solidFill>
            <a:srgbClr val="C8E5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59536" y="5157216"/>
            <a:ext cx="5513832" cy="621792"/>
          </a:xfrm>
          <a:prstGeom prst="rect">
            <a:avLst/>
          </a:prstGeom>
          <a:noFill/>
          <a:effectLst/>
        </p:spPr>
        <p:txBody>
          <a:bodyPr wrap="square" lIns="0" rIns="0" tIns="0" bIns="0" anchor="t">
            <a:spAutoFit/>
          </a:bodyPr>
          <a:lstStyle/>
          <a:p>
            <a:pPr algn="l">
              <a:lnSpc>
                <a:spcPct val="106000"/>
              </a:lnSpc>
              <a:spcAft>
                <a:spcPts val="600"/>
              </a:spcAft>
              <a:defRPr sz="1900" b="0">
                <a:solidFill>
                  <a:srgbClr val="D8E0D4"/>
                </a:solidFill>
                <a:latin typeface="Aptos"/>
              </a:defRPr>
            </a:pPr>
            <a:r>
              <a:t>Next step: verify safe operation and measure composting performance.</a:t>
            </a:r>
          </a:p>
        </p:txBody>
      </p:sp>
      <p:pic>
        <p:nvPicPr>
          <p:cNvPr id="16" name="User CAD image 01" descr="01_complete_isometric.png"/>
          <p:cNvPicPr>
            <a:picLocks noChangeAspect="1"/>
          </p:cNvPicPr>
          <p:nvPr/>
        </p:nvPicPr>
        <p:blipFill>
          <a:blip r:embed="rId2"/>
          <a:srcRect l="37643" t="12455" r="14929" b="15091"/>
          <a:stretch>
            <a:fillRect/>
          </a:stretch>
        </p:blipFill>
        <p:spPr>
          <a:xfrm>
            <a:off x="7483268" y="1920240"/>
            <a:ext cx="3412903" cy="4096512"/>
          </a:xfrm>
          <a:prstGeom prst="rect">
            <a:avLst/>
          </a:prstGeom>
          <a:effectLst/>
        </p:spPr>
      </p:pic>
      <p:sp>
        <p:nvSpPr>
          <p:cNvPr id="17" name="TextBox 16"/>
          <p:cNvSpPr txBox="1"/>
          <p:nvPr/>
        </p:nvSpPr>
        <p:spPr>
          <a:xfrm>
            <a:off x="667512" y="5980176"/>
            <a:ext cx="5669280" cy="274320"/>
          </a:xfrm>
          <a:prstGeom prst="rect">
            <a:avLst/>
          </a:prstGeom>
          <a:noFill/>
          <a:effectLst/>
        </p:spPr>
        <p:txBody>
          <a:bodyPr wrap="square" lIns="0" rIns="0" tIns="0" bIns="0" anchor="t">
            <a:spAutoFit/>
          </a:bodyPr>
          <a:lstStyle/>
          <a:p>
            <a:pPr algn="l">
              <a:lnSpc>
                <a:spcPct val="106000"/>
              </a:lnSpc>
              <a:spcAft>
                <a:spcPts val="600"/>
              </a:spcAft>
              <a:defRPr sz="1400" b="1">
                <a:solidFill>
                  <a:srgbClr val="C8E58C"/>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Composting System</dc:title>
  <dc:subject>10 L Arduino-based composting project</dc:subject>
  <dc:creator>Mayur Santosh Darekar; Sairaj Hon; Abhinav Bothe; Pratik Bankar</dc:creator>
  <cp:keywords>Smart composting, Arduino Uno, 10 L bucket, L298N, 775 motor, DHT11, student project</cp:keywords>
  <dc:description>Includes all 18 supplied CAD images. Results are not fabricated. Conceptual illustrations and unverified hardware compatibility are explicitly identified.</dc:description>
  <cp:lastModifiedBy>Steve Canny</cp:lastModifiedBy>
  <cp:revision>1</cp:revision>
  <dcterms:created xsi:type="dcterms:W3CDTF">2013-01-27T09:14:16Z</dcterms:created>
  <dcterms:modified xsi:type="dcterms:W3CDTF">2013-01-27T09:15:58Z</dcterms:modified>
  <cp:category/>
</cp:coreProperties>
</file>